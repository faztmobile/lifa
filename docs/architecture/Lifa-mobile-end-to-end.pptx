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0e95366-0c44-951c-c562-feada6e575ad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Mobile technology stack" id="{ad069ed9-4e87-2d61-841c-15d576096fcc}">
          <p14:sldIdLst>
            <p14:sldId id="263"/>
            <p14:sldId id="264"/>
            <p14:sldId id="265"/>
          </p14:sldIdLst>
        </p14:section>
        <p14:section name="Journeys 1–6: planning" id="{0ce378bf-7b42-d21c-7a21-b34a7b5f0472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Journeys 7–10: after the owner, and billing" id="{0b0f8796-359d-c72e-201a-438a20125f1e}">
          <p14:sldIdLst>
            <p14:sldId id="272"/>
            <p14:sldId id="273"/>
            <p14:sldId id="274"/>
            <p14:sldId id="275"/>
          </p14:sldIdLst>
        </p14:section>
        <p14:section name="More features, security and backend" id="{1e6b0698-7615-19b2-f992-42bddf00cd5a}">
          <p14:sldIdLst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walks the product end to end on a phone. It is the designed system: the architecture (step 1) and the design system (step 2) are done; the backend (step 3) and the feature screens (step 4) are next. The phone images are real renders of the design-system components each journey is built from, not finished feature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first: nothing in the journeys runs end to end yet. What exists is the contract every client and the backend will share, and the components the screens will be built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follows a real owner: secure the account, see where they stand, write a will, record what they own, store documents, decide who sees what, keep checking in. Activation and the executor workspace are what happens after the owner dies or loses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of the native apps running demo screens with sample data. They use only the shipped design-system components, so the step 4 feature screens will look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of the native apps running demo screens with sample data. They use only the shipped design-system components, so the step 4 feature screens will look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of the native apps running demo screens with sample data. They use only the shipped design-system components, so the step 4 feature screens will look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of the native apps running demo screens with sample data. They use only the shipped design-system components, so the step 4 feature screens will look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top to bottom: screens sit on the shared design system; under that, data, a generated API client, security and the store-specific providers. Only the bottom layer differs between Google Play and Huawei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Huawei build is the same codebase as Google Play; only billing, push, integrity and scanning swap. CI fails the Huawei build if any Google Play services or Firebase dependency appears. HarmonyOS NEXT is a separate native app because it does not run Android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journey that follows uses this path. A stolen token alone is useless because each request must also be signed by the hardware key on the bound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sign-up ends with a phone that is cryptographically bound to the account. A new phone starts at reduced trust and every other device is notified.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 is the home screen hook: one number, the evidence behind it and the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guardrails: Lifa prepares the document and explains the rules, but never gives legal advice and never e-signs a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shown on the Huawei build on purpose: same code, same screens, no Google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compromise of the main services yields no document content and no unwrapped keys, because only pool B can call the HSM.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Granting access takes a biometric step-up; taking it away never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switch is a safety net, not a trigger. It cannot release anything by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highest-risk flow in the product. On the phone the owner sees the notice with a countdown and a one-tap cancel; the decisions happen in the back-office console with two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Executors use any client. The phone covers the checklist, updates and documents; the full workspace with exports is on the web (08 §8.5).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Billing is per store, but entitlements are one set per person. If two channels are active, the higher tier wins and the owner is told how to cancel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built now, all switched off in production until their FRS 13.2 gate passes and Compliance records the approval in the audit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controls are the same on every mobile platform, implemented with each platform’s own hardware-backed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step 3 builds. Vault, policy, lifecycle and executor run in the isolated pool B; the AI adviser runs in pool C with no route to pool B and egress only to the model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moves this from design to working software, and the inputs needed from the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rgbClr val="7A5A1E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56625B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" descr="Lifa app icon: two leaves above the word Lifa on a dark green t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B373"/>
                </a:solidFill>
              </a:rPr>
              <a:t>END-TO-END DEMO · MOBILE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Lifa on mobile, end to end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069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7C9BE"/>
                </a:solidFill>
              </a:rPr>
              <a:t>Ten journeys, from sign-up to an executor closing the estate, and the technology behind every step on Android (Google Play and Huawei), iOS and HarmonyOS NEXT.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C9BE"/>
                </a:solidFill>
              </a:rPr>
              <a:t>WZDRY (Pty) Ltd · Architecture review,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WHERE WE ARE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today, and what this deck shows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Source: docs/architecture/01–09, api/openapi (210 public operations), DECISIONS.md D-001 to D-047</a:t>
            </a:r>
            <a:endParaRPr lang="en-US" sz="1000" dirty="0"/>
          </a:p>
        </p:txBody>
      </p:sp>
      <p:sp>
        <p:nvSpPr>
          <p:cNvPr id="5" name="status-1"/>
          <p:cNvSpPr/>
          <p:nvPr/>
        </p:nvSpPr>
        <p:spPr>
          <a:xfrm>
            <a:off x="548640" y="1417320"/>
            <a:ext cx="3515258" cy="44805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6661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D"/>
                </a:solidFill>
              </a:rPr>
              <a:t>Architecture for all of R1–R4 (step 1)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D"/>
                </a:solidFill>
              </a:rPr>
              <a:t>OpenAPI 3.1 contract: 210 public operations, every one tagged with its FR ID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D"/>
                </a:solidFill>
              </a:rPr>
              <a:t>Design system on every client, tested in CI (step 2)</a:t>
            </a:r>
            <a:endParaRPr lang="en-US" sz="1500" dirty="0"/>
          </a:p>
        </p:txBody>
      </p:sp>
      <p:sp>
        <p:nvSpPr>
          <p:cNvPr id="8" name="status-2"/>
          <p:cNvSpPr/>
          <p:nvPr/>
        </p:nvSpPr>
        <p:spPr>
          <a:xfrm>
            <a:off x="4338218" y="1417320"/>
            <a:ext cx="3515258" cy="4480560"/>
          </a:xfrm>
          <a:prstGeom prst="roundRect">
            <a:avLst>
              <a:gd name="adj" fmla="val 3121"/>
            </a:avLst>
          </a:prstGeom>
          <a:solidFill>
            <a:srgbClr val="FBF0E0"/>
          </a:solidFill>
          <a:ln w="12700">
            <a:solidFill>
              <a:srgbClr val="E3C7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16459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A4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240280"/>
            <a:ext cx="296661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D"/>
                </a:solidFill>
              </a:rPr>
              <a:t>Step 3: Kotlin/Spring backend, Terraform for Azure South Africa North, CI/CD, seed data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D"/>
                </a:solidFill>
              </a:rPr>
              <a:t>Step 4: feature screens on Android first, then web, iOS and HarmonyOS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D"/>
                </a:solidFill>
              </a:rPr>
              <a:t>Step 5: device and end-to-end test suites</a:t>
            </a:r>
            <a:endParaRPr lang="en-US" sz="1500" dirty="0"/>
          </a:p>
        </p:txBody>
      </p:sp>
      <p:sp>
        <p:nvSpPr>
          <p:cNvPr id="11" name="status-3"/>
          <p:cNvSpPr/>
          <p:nvPr/>
        </p:nvSpPr>
        <p:spPr>
          <a:xfrm>
            <a:off x="8127797" y="1417320"/>
            <a:ext cx="3515258" cy="44805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2117" y="16459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deck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2240280"/>
            <a:ext cx="296661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D"/>
                </a:solidFill>
              </a:rPr>
              <a:t>Each journey as designed: steps, API calls, security and platform technology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D"/>
                </a:solidFill>
              </a:rPr>
              <a:t>Phone images are real screenshots of the iOS and Android apps running demo screens with sample data; full feature screens follow in step 4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D"/>
                </a:solidFill>
              </a:rPr>
              <a:t>Later-release features shown with the release flag that gates them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THE 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journeys across the life of an estate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Journeys 1–6 are R1/R2 scope. 7–10 run behind release flags until their FRS 13.2 launch gates pass (D-026)</a:t>
            </a:r>
            <a:endParaRPr lang="en-US" sz="1000" dirty="0"/>
          </a:p>
        </p:txBody>
      </p:sp>
      <p:sp>
        <p:nvSpPr>
          <p:cNvPr id="5" name="journey-1"/>
          <p:cNvSpPr/>
          <p:nvPr/>
        </p:nvSpPr>
        <p:spPr>
          <a:xfrm>
            <a:off x="548640" y="160020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6" name="journey-dot-1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Sign up and secure the phone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26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</a:rPr>
              <a:t>FR-ONB</a:t>
            </a:r>
            <a:endParaRPr lang="en-US" sz="1100" dirty="0"/>
          </a:p>
        </p:txBody>
      </p:sp>
      <p:sp>
        <p:nvSpPr>
          <p:cNvPr id="10" name="flow-1"/>
          <p:cNvSpPr/>
          <p:nvPr/>
        </p:nvSpPr>
        <p:spPr>
          <a:xfrm>
            <a:off x="2615184" y="1965960"/>
            <a:ext cx="182880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11" name="journey-2"/>
          <p:cNvSpPr/>
          <p:nvPr/>
        </p:nvSpPr>
        <p:spPr>
          <a:xfrm>
            <a:off x="2807208" y="160020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2" name="journey-dot-2"/>
          <p:cNvSpPr/>
          <p:nvPr/>
        </p:nvSpPr>
        <p:spPr>
          <a:xfrm>
            <a:off x="3035808" y="1828800"/>
            <a:ext cx="502920" cy="502920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3580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35808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Legacy Score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2926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</a:rPr>
              <a:t>FR-SCR</a:t>
            </a:r>
            <a:endParaRPr lang="en-US" sz="1100" dirty="0"/>
          </a:p>
        </p:txBody>
      </p:sp>
      <p:sp>
        <p:nvSpPr>
          <p:cNvPr id="16" name="flow-2"/>
          <p:cNvSpPr/>
          <p:nvPr/>
        </p:nvSpPr>
        <p:spPr>
          <a:xfrm>
            <a:off x="4873752" y="1965960"/>
            <a:ext cx="182880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17" name="journey-3"/>
          <p:cNvSpPr/>
          <p:nvPr/>
        </p:nvSpPr>
        <p:spPr>
          <a:xfrm>
            <a:off x="5065776" y="160020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8" name="journey-dot-3"/>
          <p:cNvSpPr/>
          <p:nvPr/>
        </p:nvSpPr>
        <p:spPr>
          <a:xfrm>
            <a:off x="5294376" y="1828800"/>
            <a:ext cx="502920" cy="502920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9437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94376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Write the will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94376" y="2926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</a:rPr>
              <a:t>FR-WIL</a:t>
            </a:r>
            <a:endParaRPr lang="en-US" sz="1100" dirty="0"/>
          </a:p>
        </p:txBody>
      </p:sp>
      <p:sp>
        <p:nvSpPr>
          <p:cNvPr id="22" name="flow-3"/>
          <p:cNvSpPr/>
          <p:nvPr/>
        </p:nvSpPr>
        <p:spPr>
          <a:xfrm>
            <a:off x="7132320" y="1965960"/>
            <a:ext cx="182880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23" name="journey-4"/>
          <p:cNvSpPr/>
          <p:nvPr/>
        </p:nvSpPr>
        <p:spPr>
          <a:xfrm>
            <a:off x="7324344" y="160020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24" name="journey-dot-4"/>
          <p:cNvSpPr/>
          <p:nvPr/>
        </p:nvSpPr>
        <p:spPr>
          <a:xfrm>
            <a:off x="7552944" y="1828800"/>
            <a:ext cx="502920" cy="502920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52944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552944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Assets and family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552944" y="2926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</a:rPr>
              <a:t>FR-AST · FAM</a:t>
            </a:r>
            <a:endParaRPr lang="en-US" sz="1100" dirty="0"/>
          </a:p>
        </p:txBody>
      </p:sp>
      <p:sp>
        <p:nvSpPr>
          <p:cNvPr id="28" name="flow-4"/>
          <p:cNvSpPr/>
          <p:nvPr/>
        </p:nvSpPr>
        <p:spPr>
          <a:xfrm>
            <a:off x="9390888" y="1965960"/>
            <a:ext cx="182880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29" name="journey-5"/>
          <p:cNvSpPr/>
          <p:nvPr/>
        </p:nvSpPr>
        <p:spPr>
          <a:xfrm>
            <a:off x="9582912" y="160020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30" name="journey-dot-5"/>
          <p:cNvSpPr/>
          <p:nvPr/>
        </p:nvSpPr>
        <p:spPr>
          <a:xfrm>
            <a:off x="9811512" y="1828800"/>
            <a:ext cx="502920" cy="502920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1151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811512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Document vault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811512" y="2926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</a:rPr>
              <a:t>FR-VLT</a:t>
            </a:r>
            <a:endParaRPr lang="en-US" sz="1100" dirty="0"/>
          </a:p>
        </p:txBody>
      </p:sp>
      <p:sp>
        <p:nvSpPr>
          <p:cNvPr id="34" name="journey-6"/>
          <p:cNvSpPr/>
          <p:nvPr/>
        </p:nvSpPr>
        <p:spPr>
          <a:xfrm>
            <a:off x="548640" y="379476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35" name="journey-dot-6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4663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Access and emergency card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120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</a:rPr>
              <a:t>FR-PRM · EMG</a:t>
            </a:r>
            <a:endParaRPr lang="en-US" sz="1100" dirty="0"/>
          </a:p>
        </p:txBody>
      </p:sp>
      <p:sp>
        <p:nvSpPr>
          <p:cNvPr id="39" name="flow-6"/>
          <p:cNvSpPr/>
          <p:nvPr/>
        </p:nvSpPr>
        <p:spPr>
          <a:xfrm>
            <a:off x="2615184" y="4160520"/>
            <a:ext cx="182880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40" name="journey-7"/>
          <p:cNvSpPr/>
          <p:nvPr/>
        </p:nvSpPr>
        <p:spPr>
          <a:xfrm>
            <a:off x="2807208" y="379476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BF0E0"/>
          </a:solidFill>
          <a:ln w="12700">
            <a:solidFill>
              <a:srgbClr val="E3C79A"/>
            </a:solidFill>
            <a:prstDash val="solid"/>
          </a:ln>
        </p:spPr>
      </p:sp>
      <p:sp>
        <p:nvSpPr>
          <p:cNvPr id="41" name="journey-dot-7"/>
          <p:cNvSpPr/>
          <p:nvPr/>
        </p:nvSpPr>
        <p:spPr>
          <a:xfrm>
            <a:off x="3035808" y="4023360"/>
            <a:ext cx="502920" cy="502920"/>
          </a:xfrm>
          <a:prstGeom prst="ellipse">
            <a:avLst/>
          </a:prstGeom>
          <a:solidFill>
            <a:srgbClr val="8A4F06"/>
          </a:solidFill>
          <a:ln w="12700">
            <a:solidFill>
              <a:srgbClr val="8A4F0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03580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3035808" y="4663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Check-ins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3035808" y="5120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</a:rPr>
              <a:t>FR-DMS</a:t>
            </a:r>
            <a:endParaRPr lang="en-US" sz="1100" dirty="0"/>
          </a:p>
        </p:txBody>
      </p:sp>
      <p:sp>
        <p:nvSpPr>
          <p:cNvPr id="45" name="flow-7"/>
          <p:cNvSpPr/>
          <p:nvPr/>
        </p:nvSpPr>
        <p:spPr>
          <a:xfrm>
            <a:off x="4873752" y="4160520"/>
            <a:ext cx="182880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46" name="journey-8"/>
          <p:cNvSpPr/>
          <p:nvPr/>
        </p:nvSpPr>
        <p:spPr>
          <a:xfrm>
            <a:off x="5065776" y="379476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BF0E0"/>
          </a:solidFill>
          <a:ln w="12700">
            <a:solidFill>
              <a:srgbClr val="E3C79A"/>
            </a:solidFill>
            <a:prstDash val="solid"/>
          </a:ln>
        </p:spPr>
      </p:sp>
      <p:sp>
        <p:nvSpPr>
          <p:cNvPr id="47" name="journey-dot-8"/>
          <p:cNvSpPr/>
          <p:nvPr/>
        </p:nvSpPr>
        <p:spPr>
          <a:xfrm>
            <a:off x="5294376" y="4023360"/>
            <a:ext cx="502920" cy="502920"/>
          </a:xfrm>
          <a:prstGeom prst="ellipse">
            <a:avLst/>
          </a:prstGeom>
          <a:solidFill>
            <a:srgbClr val="8A4F06"/>
          </a:solidFill>
          <a:ln w="12700">
            <a:solidFill>
              <a:srgbClr val="8A4F0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294376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5294376" y="4663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Activation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5294376" y="5120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</a:rPr>
              <a:t>FR-ACT</a:t>
            </a:r>
            <a:endParaRPr lang="en-US" sz="1100" dirty="0"/>
          </a:p>
        </p:txBody>
      </p:sp>
      <p:sp>
        <p:nvSpPr>
          <p:cNvPr id="51" name="flow-8"/>
          <p:cNvSpPr/>
          <p:nvPr/>
        </p:nvSpPr>
        <p:spPr>
          <a:xfrm>
            <a:off x="7132320" y="4160520"/>
            <a:ext cx="182880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52" name="journey-9"/>
          <p:cNvSpPr/>
          <p:nvPr/>
        </p:nvSpPr>
        <p:spPr>
          <a:xfrm>
            <a:off x="7324344" y="379476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BF0E0"/>
          </a:solidFill>
          <a:ln w="12700">
            <a:solidFill>
              <a:srgbClr val="E3C79A"/>
            </a:solidFill>
            <a:prstDash val="solid"/>
          </a:ln>
        </p:spPr>
      </p:sp>
      <p:sp>
        <p:nvSpPr>
          <p:cNvPr id="53" name="journey-dot-9"/>
          <p:cNvSpPr/>
          <p:nvPr/>
        </p:nvSpPr>
        <p:spPr>
          <a:xfrm>
            <a:off x="7552944" y="4023360"/>
            <a:ext cx="502920" cy="502920"/>
          </a:xfrm>
          <a:prstGeom prst="ellipse">
            <a:avLst/>
          </a:prstGeom>
          <a:solidFill>
            <a:srgbClr val="8A4F06"/>
          </a:solidFill>
          <a:ln w="12700">
            <a:solidFill>
              <a:srgbClr val="8A4F0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552944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7552944" y="4663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Executor workspace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7552944" y="5120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</a:rPr>
              <a:t>FR-EXE</a:t>
            </a:r>
            <a:endParaRPr lang="en-US" sz="1100" dirty="0"/>
          </a:p>
        </p:txBody>
      </p:sp>
      <p:sp>
        <p:nvSpPr>
          <p:cNvPr id="57" name="flow-9"/>
          <p:cNvSpPr/>
          <p:nvPr/>
        </p:nvSpPr>
        <p:spPr>
          <a:xfrm>
            <a:off x="9390888" y="4160520"/>
            <a:ext cx="182880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58" name="journey-10"/>
          <p:cNvSpPr/>
          <p:nvPr/>
        </p:nvSpPr>
        <p:spPr>
          <a:xfrm>
            <a:off x="9582912" y="379476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59" name="journey-dot-10"/>
          <p:cNvSpPr/>
          <p:nvPr/>
        </p:nvSpPr>
        <p:spPr>
          <a:xfrm>
            <a:off x="9811512" y="4023360"/>
            <a:ext cx="502920" cy="502920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811512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9811512" y="4663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Plans and billing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9811512" y="5120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</a:rPr>
              <a:t>FR-SUB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25B"/>
                </a:solidFill>
              </a:rPr>
              <a:t>Shaded: activation-related journeys that stay switched off in production until the red-team and four-eyes gates pass. Journey 10 applies throughout.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ON IPHONE · REAL APP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Planning: sign-up to vault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iPhone simulator (iOS), SwiftUI app with sample data · status bar set to 9:41 for the capture · demo screens built from the design system; full feature screens follow in step 4 · people and figures are fictional</a:t>
            </a:r>
            <a:endParaRPr lang="en-US" sz="1000" dirty="0"/>
          </a:p>
        </p:txBody>
      </p:sp>
      <p:sp>
        <p:nvSpPr>
          <p:cNvPr id="5" name="showcase-frame-1"/>
          <p:cNvSpPr/>
          <p:nvPr/>
        </p:nvSpPr>
        <p:spPr>
          <a:xfrm>
            <a:off x="548640" y="1371600"/>
            <a:ext cx="2033626" cy="4206240"/>
          </a:xfrm>
          <a:prstGeom prst="roundRect">
            <a:avLst>
              <a:gd name="adj" fmla="val 8993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showcase-screen-1" descr="App screenshot: 1 · Verify your 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1850746" cy="402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69280"/>
            <a:ext cx="20336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1 · Verify your mobile</a:t>
            </a:r>
            <a:endParaRPr lang="en-US" sz="1200" dirty="0"/>
          </a:p>
        </p:txBody>
      </p:sp>
      <p:sp>
        <p:nvSpPr>
          <p:cNvPr id="8" name="showcase-frame-2"/>
          <p:cNvSpPr/>
          <p:nvPr/>
        </p:nvSpPr>
        <p:spPr>
          <a:xfrm>
            <a:off x="2813837" y="1371600"/>
            <a:ext cx="2033626" cy="4206240"/>
          </a:xfrm>
          <a:prstGeom prst="roundRect">
            <a:avLst>
              <a:gd name="adj" fmla="val 8993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9" name="showcase-screen-2" descr="App screenshot: 2 · Home and sc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277" y="1463040"/>
            <a:ext cx="1850746" cy="4023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837" y="5669280"/>
            <a:ext cx="20336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2 · Home and score</a:t>
            </a:r>
            <a:endParaRPr lang="en-US" sz="1200" dirty="0"/>
          </a:p>
        </p:txBody>
      </p:sp>
      <p:sp>
        <p:nvSpPr>
          <p:cNvPr id="11" name="showcase-frame-3"/>
          <p:cNvSpPr/>
          <p:nvPr/>
        </p:nvSpPr>
        <p:spPr>
          <a:xfrm>
            <a:off x="5079035" y="1371600"/>
            <a:ext cx="2033626" cy="4206240"/>
          </a:xfrm>
          <a:prstGeom prst="roundRect">
            <a:avLst>
              <a:gd name="adj" fmla="val 8993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2" name="showcase-screen-3" descr="App screenshot: 3 · Write the wi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475" y="1463040"/>
            <a:ext cx="1850746" cy="4023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79035" y="5669280"/>
            <a:ext cx="20336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3 · Write the will</a:t>
            </a:r>
            <a:endParaRPr lang="en-US" sz="1200" dirty="0"/>
          </a:p>
        </p:txBody>
      </p:sp>
      <p:sp>
        <p:nvSpPr>
          <p:cNvPr id="14" name="showcase-frame-4"/>
          <p:cNvSpPr/>
          <p:nvPr/>
        </p:nvSpPr>
        <p:spPr>
          <a:xfrm>
            <a:off x="7344232" y="1371600"/>
            <a:ext cx="2033626" cy="4206240"/>
          </a:xfrm>
          <a:prstGeom prst="roundRect">
            <a:avLst>
              <a:gd name="adj" fmla="val 8993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5" name="showcase-screen-4" descr="App screenshot: 4 · Assets and deb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672" y="1463040"/>
            <a:ext cx="1850746" cy="40233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44232" y="5669280"/>
            <a:ext cx="20336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4 · Assets and debts</a:t>
            </a:r>
            <a:endParaRPr lang="en-US" sz="1200" dirty="0"/>
          </a:p>
        </p:txBody>
      </p:sp>
      <p:sp>
        <p:nvSpPr>
          <p:cNvPr id="17" name="showcase-frame-5"/>
          <p:cNvSpPr/>
          <p:nvPr/>
        </p:nvSpPr>
        <p:spPr>
          <a:xfrm>
            <a:off x="9609430" y="1371600"/>
            <a:ext cx="2033626" cy="4206240"/>
          </a:xfrm>
          <a:prstGeom prst="roundRect">
            <a:avLst>
              <a:gd name="adj" fmla="val 8993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8" name="showcase-screen-5" descr="App screenshot: 5 · Vault step-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870" y="1463040"/>
            <a:ext cx="1850746" cy="40233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09430" y="5669280"/>
            <a:ext cx="20336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5 · Vault step-up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ON IPHONE · REAL APP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and closing the estate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iPhone simulator (iOS), SwiftUI app with sample data · status bar set to 9:41 for the capture · demo screens built from the design system; full feature screens follow in step 4 · people and figures are fictional</a:t>
            </a:r>
            <a:endParaRPr lang="en-US" sz="1000" dirty="0"/>
          </a:p>
        </p:txBody>
      </p:sp>
      <p:sp>
        <p:nvSpPr>
          <p:cNvPr id="5" name="showcase-frame-1"/>
          <p:cNvSpPr/>
          <p:nvPr/>
        </p:nvSpPr>
        <p:spPr>
          <a:xfrm>
            <a:off x="548640" y="1371600"/>
            <a:ext cx="2033626" cy="4206240"/>
          </a:xfrm>
          <a:prstGeom prst="roundRect">
            <a:avLst>
              <a:gd name="adj" fmla="val 8993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showcase-screen-1" descr="App screenshot: 6 · Emergency 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1850746" cy="402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69280"/>
            <a:ext cx="20336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6 · Emergency card</a:t>
            </a:r>
            <a:endParaRPr lang="en-US" sz="1200" dirty="0"/>
          </a:p>
        </p:txBody>
      </p:sp>
      <p:sp>
        <p:nvSpPr>
          <p:cNvPr id="8" name="showcase-frame-2"/>
          <p:cNvSpPr/>
          <p:nvPr/>
        </p:nvSpPr>
        <p:spPr>
          <a:xfrm>
            <a:off x="2813837" y="1371600"/>
            <a:ext cx="2033626" cy="4206240"/>
          </a:xfrm>
          <a:prstGeom prst="roundRect">
            <a:avLst>
              <a:gd name="adj" fmla="val 8993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9" name="showcase-screen-2" descr="App screenshot: 7 · Check-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277" y="1463040"/>
            <a:ext cx="1850746" cy="4023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837" y="5669280"/>
            <a:ext cx="20336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7 · Check-in</a:t>
            </a:r>
            <a:endParaRPr lang="en-US" sz="1200" dirty="0"/>
          </a:p>
        </p:txBody>
      </p:sp>
      <p:sp>
        <p:nvSpPr>
          <p:cNvPr id="11" name="showcase-frame-3"/>
          <p:cNvSpPr/>
          <p:nvPr/>
        </p:nvSpPr>
        <p:spPr>
          <a:xfrm>
            <a:off x="5079035" y="1371600"/>
            <a:ext cx="2033626" cy="4206240"/>
          </a:xfrm>
          <a:prstGeom prst="roundRect">
            <a:avLst>
              <a:gd name="adj" fmla="val 8993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2" name="showcase-screen-3" descr="App screenshot: 8 · 72-hour not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475" y="1463040"/>
            <a:ext cx="1850746" cy="4023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79035" y="5669280"/>
            <a:ext cx="20336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8 · 72-hour notice</a:t>
            </a:r>
            <a:endParaRPr lang="en-US" sz="1200" dirty="0"/>
          </a:p>
        </p:txBody>
      </p:sp>
      <p:sp>
        <p:nvSpPr>
          <p:cNvPr id="14" name="showcase-frame-4"/>
          <p:cNvSpPr/>
          <p:nvPr/>
        </p:nvSpPr>
        <p:spPr>
          <a:xfrm>
            <a:off x="7344232" y="1371600"/>
            <a:ext cx="2033626" cy="4206240"/>
          </a:xfrm>
          <a:prstGeom prst="roundRect">
            <a:avLst>
              <a:gd name="adj" fmla="val 8993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5" name="showcase-screen-4" descr="App screenshot: 9 · Execu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672" y="1463040"/>
            <a:ext cx="1850746" cy="40233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44232" y="5669280"/>
            <a:ext cx="20336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9 · Executor</a:t>
            </a:r>
            <a:endParaRPr lang="en-US" sz="1200" dirty="0"/>
          </a:p>
        </p:txBody>
      </p:sp>
      <p:sp>
        <p:nvSpPr>
          <p:cNvPr id="17" name="showcase-frame-5"/>
          <p:cNvSpPr/>
          <p:nvPr/>
        </p:nvSpPr>
        <p:spPr>
          <a:xfrm>
            <a:off x="9609430" y="1371600"/>
            <a:ext cx="2033626" cy="4206240"/>
          </a:xfrm>
          <a:prstGeom prst="roundRect">
            <a:avLst>
              <a:gd name="adj" fmla="val 8993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8" name="showcase-screen-5" descr="App screenshot: 10 · Plan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870" y="1463040"/>
            <a:ext cx="1850746" cy="40233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09430" y="5669280"/>
            <a:ext cx="20336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10 · Plans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ON ANDROID · REAL APP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Planning: sign-up to vault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Pixel 7 emulator, Android 14, Google Play build with sample data · Huawei build captured too (docs/design/screens/native-android/hms) · demo screens built from the design system; full feature screens follow in step 4 · people and figures are fictional</a:t>
            </a:r>
            <a:endParaRPr lang="en-US" sz="1000" dirty="0"/>
          </a:p>
        </p:txBody>
      </p:sp>
      <p:sp>
        <p:nvSpPr>
          <p:cNvPr id="5" name="showcase-frame-1"/>
          <p:cNvSpPr/>
          <p:nvPr/>
        </p:nvSpPr>
        <p:spPr>
          <a:xfrm>
            <a:off x="548640" y="1371600"/>
            <a:ext cx="1993392" cy="4206240"/>
          </a:xfrm>
          <a:prstGeom prst="roundRect">
            <a:avLst>
              <a:gd name="adj" fmla="val 9174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showcase-screen-1" descr="App screenshot: 1 · Verify your 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1810512" cy="402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69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1 · Verify your mobile</a:t>
            </a:r>
            <a:endParaRPr lang="en-US" sz="1200" dirty="0"/>
          </a:p>
        </p:txBody>
      </p:sp>
      <p:sp>
        <p:nvSpPr>
          <p:cNvPr id="8" name="showcase-frame-2"/>
          <p:cNvSpPr/>
          <p:nvPr/>
        </p:nvSpPr>
        <p:spPr>
          <a:xfrm>
            <a:off x="2823896" y="1371600"/>
            <a:ext cx="1993392" cy="4206240"/>
          </a:xfrm>
          <a:prstGeom prst="roundRect">
            <a:avLst>
              <a:gd name="adj" fmla="val 9174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9" name="showcase-screen-2" descr="App screenshot: 2 · Home and sc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336" y="1463040"/>
            <a:ext cx="1810512" cy="4023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23896" y="5669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2 · Home and score</a:t>
            </a:r>
            <a:endParaRPr lang="en-US" sz="1200" dirty="0"/>
          </a:p>
        </p:txBody>
      </p:sp>
      <p:sp>
        <p:nvSpPr>
          <p:cNvPr id="11" name="showcase-frame-3"/>
          <p:cNvSpPr/>
          <p:nvPr/>
        </p:nvSpPr>
        <p:spPr>
          <a:xfrm>
            <a:off x="5099152" y="1371600"/>
            <a:ext cx="1993392" cy="4206240"/>
          </a:xfrm>
          <a:prstGeom prst="roundRect">
            <a:avLst>
              <a:gd name="adj" fmla="val 9174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2" name="showcase-screen-3" descr="App screenshot: 3 · Write the wi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592" y="1463040"/>
            <a:ext cx="1810512" cy="4023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99152" y="5669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3 · Write the will</a:t>
            </a:r>
            <a:endParaRPr lang="en-US" sz="1200" dirty="0"/>
          </a:p>
        </p:txBody>
      </p:sp>
      <p:sp>
        <p:nvSpPr>
          <p:cNvPr id="14" name="showcase-frame-4"/>
          <p:cNvSpPr/>
          <p:nvPr/>
        </p:nvSpPr>
        <p:spPr>
          <a:xfrm>
            <a:off x="7374407" y="1371600"/>
            <a:ext cx="1993392" cy="4206240"/>
          </a:xfrm>
          <a:prstGeom prst="roundRect">
            <a:avLst>
              <a:gd name="adj" fmla="val 9174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5" name="showcase-screen-4" descr="App screenshot: 4 · Assets and deb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847" y="1463040"/>
            <a:ext cx="1810512" cy="40233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74407" y="5669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4 · Assets and debts</a:t>
            </a:r>
            <a:endParaRPr lang="en-US" sz="1200" dirty="0"/>
          </a:p>
        </p:txBody>
      </p:sp>
      <p:sp>
        <p:nvSpPr>
          <p:cNvPr id="17" name="showcase-frame-5"/>
          <p:cNvSpPr/>
          <p:nvPr/>
        </p:nvSpPr>
        <p:spPr>
          <a:xfrm>
            <a:off x="9649663" y="1371600"/>
            <a:ext cx="1993392" cy="4206240"/>
          </a:xfrm>
          <a:prstGeom prst="roundRect">
            <a:avLst>
              <a:gd name="adj" fmla="val 9174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8" name="showcase-screen-5" descr="App screenshot: 5 · Vault step-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1103" y="1463040"/>
            <a:ext cx="1810512" cy="40233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49663" y="5669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5 · Vault step-up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ON ANDROID · REAL APP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and closing the estate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Pixel 7 emulator, Android 14, Google Play build with sample data · Huawei build captured too (docs/design/screens/native-android/hms) · demo screens built from the design system; full feature screens follow in step 4 · people and figures are fictional</a:t>
            </a:r>
            <a:endParaRPr lang="en-US" sz="1000" dirty="0"/>
          </a:p>
        </p:txBody>
      </p:sp>
      <p:sp>
        <p:nvSpPr>
          <p:cNvPr id="5" name="showcase-frame-1"/>
          <p:cNvSpPr/>
          <p:nvPr/>
        </p:nvSpPr>
        <p:spPr>
          <a:xfrm>
            <a:off x="548640" y="1371600"/>
            <a:ext cx="1993392" cy="4206240"/>
          </a:xfrm>
          <a:prstGeom prst="roundRect">
            <a:avLst>
              <a:gd name="adj" fmla="val 9174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showcase-screen-1" descr="App screenshot: 6 · Emergency 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1810512" cy="402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69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6 · Emergency card</a:t>
            </a:r>
            <a:endParaRPr lang="en-US" sz="1200" dirty="0"/>
          </a:p>
        </p:txBody>
      </p:sp>
      <p:sp>
        <p:nvSpPr>
          <p:cNvPr id="8" name="showcase-frame-2"/>
          <p:cNvSpPr/>
          <p:nvPr/>
        </p:nvSpPr>
        <p:spPr>
          <a:xfrm>
            <a:off x="2823896" y="1371600"/>
            <a:ext cx="1993392" cy="4206240"/>
          </a:xfrm>
          <a:prstGeom prst="roundRect">
            <a:avLst>
              <a:gd name="adj" fmla="val 9174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9" name="showcase-screen-2" descr="App screenshot: 7 · Check-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336" y="1463040"/>
            <a:ext cx="1810512" cy="4023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23896" y="5669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7 · Check-in</a:t>
            </a:r>
            <a:endParaRPr lang="en-US" sz="1200" dirty="0"/>
          </a:p>
        </p:txBody>
      </p:sp>
      <p:sp>
        <p:nvSpPr>
          <p:cNvPr id="11" name="showcase-frame-3"/>
          <p:cNvSpPr/>
          <p:nvPr/>
        </p:nvSpPr>
        <p:spPr>
          <a:xfrm>
            <a:off x="5099152" y="1371600"/>
            <a:ext cx="1993392" cy="4206240"/>
          </a:xfrm>
          <a:prstGeom prst="roundRect">
            <a:avLst>
              <a:gd name="adj" fmla="val 9174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2" name="showcase-screen-3" descr="App screenshot: 8 · 72-hour not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592" y="1463040"/>
            <a:ext cx="1810512" cy="4023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99152" y="5669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8 · 72-hour notice</a:t>
            </a:r>
            <a:endParaRPr lang="en-US" sz="1200" dirty="0"/>
          </a:p>
        </p:txBody>
      </p:sp>
      <p:sp>
        <p:nvSpPr>
          <p:cNvPr id="14" name="showcase-frame-4"/>
          <p:cNvSpPr/>
          <p:nvPr/>
        </p:nvSpPr>
        <p:spPr>
          <a:xfrm>
            <a:off x="7374407" y="1371600"/>
            <a:ext cx="1993392" cy="4206240"/>
          </a:xfrm>
          <a:prstGeom prst="roundRect">
            <a:avLst>
              <a:gd name="adj" fmla="val 9174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5" name="showcase-screen-4" descr="App screenshot: 9 · Execu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847" y="1463040"/>
            <a:ext cx="1810512" cy="40233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74407" y="5669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9 · Executor</a:t>
            </a:r>
            <a:endParaRPr lang="en-US" sz="1200" dirty="0"/>
          </a:p>
        </p:txBody>
      </p:sp>
      <p:sp>
        <p:nvSpPr>
          <p:cNvPr id="17" name="showcase-frame-5"/>
          <p:cNvSpPr/>
          <p:nvPr/>
        </p:nvSpPr>
        <p:spPr>
          <a:xfrm>
            <a:off x="9649663" y="1371600"/>
            <a:ext cx="1993392" cy="4206240"/>
          </a:xfrm>
          <a:prstGeom prst="roundRect">
            <a:avLst>
              <a:gd name="adj" fmla="val 9174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18" name="showcase-screen-5" descr="App screenshot: 10 · Plan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1103" y="1463040"/>
            <a:ext cx="1810512" cy="40233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49663" y="5669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D"/>
                </a:solidFill>
              </a:rPr>
              <a:t>10 · Plans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MOBILE TECHNOLOGY STACK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architecture, three native toolkits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Android modules per 08-platforms §8.3; iOS mirrors them as Swift packages, HarmonyOS as HAR modules</a:t>
            </a:r>
            <a:endParaRPr lang="en-US" sz="1000" dirty="0"/>
          </a:p>
        </p:txBody>
      </p:sp>
      <p:sp>
        <p:nvSpPr>
          <p:cNvPr id="5" name="layer-1"/>
          <p:cNvSpPr/>
          <p:nvPr/>
        </p:nvSpPr>
        <p:spPr>
          <a:xfrm>
            <a:off x="548640" y="1371600"/>
            <a:ext cx="11094415" cy="694944"/>
          </a:xfrm>
          <a:prstGeom prst="roundRect">
            <a:avLst>
              <a:gd name="adj" fmla="val 15789"/>
            </a:avLst>
          </a:prstGeom>
          <a:solidFill>
            <a:srgbClr val="0B2E21"/>
          </a:solidFill>
          <a:ln w="12700">
            <a:solidFill>
              <a:srgbClr val="0B2E2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4904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9BE"/>
                </a:solidFill>
              </a:rPr>
              <a:t>Feature modules: onboarding, score, will, estate, family, vault, access, emergency, check-in, activation, executor, plans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4904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B373"/>
                </a:solidFill>
              </a:rPr>
              <a:t>Jetpack Compose · SwiftUI · ArkUI</a:t>
            </a:r>
            <a:endParaRPr lang="en-US" sz="1200" dirty="0"/>
          </a:p>
        </p:txBody>
      </p:sp>
      <p:sp>
        <p:nvSpPr>
          <p:cNvPr id="9" name="layer-2"/>
          <p:cNvSpPr/>
          <p:nvPr/>
        </p:nvSpPr>
        <p:spPr>
          <a:xfrm>
            <a:off x="548640" y="2176272"/>
            <a:ext cx="11094415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359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29514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25B"/>
                </a:solidFill>
              </a:rPr>
              <a:t>Generated themes and 22 shared components from one tokens.json (step 2)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2951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45"/>
                </a:solidFill>
              </a:rPr>
              <a:t>core:design · LifaDesign · design HAR</a:t>
            </a:r>
            <a:endParaRPr lang="en-US" sz="1200" dirty="0"/>
          </a:p>
        </p:txBody>
      </p:sp>
      <p:sp>
        <p:nvSpPr>
          <p:cNvPr id="13" name="layer-3"/>
          <p:cNvSpPr/>
          <p:nvPr/>
        </p:nvSpPr>
        <p:spPr>
          <a:xfrm>
            <a:off x="548640" y="2980944"/>
            <a:ext cx="11094415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163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offline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09981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25B"/>
                </a:solidFill>
              </a:rPr>
              <a:t>Repositories, encrypted local cache, sync; entitlement keys drive what the UI offers (never plan names)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30998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45"/>
                </a:solidFill>
              </a:rPr>
              <a:t>Room/GRDB/RelationalStore + SQLCipher</a:t>
            </a:r>
            <a:endParaRPr lang="en-US" sz="1200" dirty="0"/>
          </a:p>
        </p:txBody>
      </p:sp>
      <p:sp>
        <p:nvSpPr>
          <p:cNvPr id="17" name="layer-4"/>
          <p:cNvSpPr/>
          <p:nvPr/>
        </p:nvSpPr>
        <p:spPr>
          <a:xfrm>
            <a:off x="548640" y="3785616"/>
            <a:ext cx="11094415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968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client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9044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25B"/>
                </a:solidFill>
              </a:rPr>
              <a:t>Generated from the OpenAPI 3.1 contract; DPoP proof and step-up token added by interceptors; certificate pinning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9044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45"/>
                </a:solidFill>
              </a:rPr>
              <a:t>Retrofit/OkHttp · swift-openapi-generator · @ohos.net.http</a:t>
            </a:r>
            <a:endParaRPr lang="en-US" sz="1200" dirty="0"/>
          </a:p>
        </p:txBody>
      </p:sp>
      <p:sp>
        <p:nvSpPr>
          <p:cNvPr id="21" name="layer-5"/>
          <p:cNvSpPr/>
          <p:nvPr/>
        </p:nvSpPr>
        <p:spPr>
          <a:xfrm>
            <a:off x="548640" y="4590288"/>
            <a:ext cx="11094415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773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47091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25B"/>
                </a:solidFill>
              </a:rPr>
              <a:t>Hardware device key, biometric step-up, attestation, root/jailbreak signals, secure screens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709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45"/>
                </a:solidFill>
              </a:rPr>
              <a:t>Keystore/StrongBox · Secure Enclave · HUKS</a:t>
            </a:r>
            <a:endParaRPr lang="en-US" sz="1200" dirty="0"/>
          </a:p>
        </p:txBody>
      </p:sp>
      <p:sp>
        <p:nvSpPr>
          <p:cNvPr id="25" name="layer-6"/>
          <p:cNvSpPr/>
          <p:nvPr/>
        </p:nvSpPr>
        <p:spPr>
          <a:xfrm>
            <a:off x="548640" y="5394960"/>
            <a:ext cx="11094415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577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providers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926080" y="55138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25B"/>
                </a:solidFill>
              </a:rPr>
              <a:t>Billing, push, integrity and document scanning behind interfaces, one implementation per store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5513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45"/>
                </a:solidFill>
              </a:rPr>
              <a:t>Google Play · Huawei · Apple · HarmonyOS Kits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MOBILE TECHNOLOGY STACK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platform, capability by capability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From docs/architecture/08-platforms §8.1 · versions pinned when each client is built</a:t>
            </a:r>
            <a:endParaRPr lang="en-US" sz="1000" dirty="0"/>
          </a:p>
        </p:txBody>
      </p:sp>
      <p:graphicFrame>
        <p:nvGraphicFramePr>
          <p:cNvPr id="10" name="capability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331720"/>
                <a:gridCol w="2011680"/>
                <a:gridCol w="2240280"/>
                <a:gridCol w="22677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· Google 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· Huawei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HarmonyOS NEXT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Jetpack Compose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E8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ArkUI (ArkTS)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Sign-in (OIDC + PKCE)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MSAL Android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MSAL (no GMS)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MSAL iOS, native 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browser + PKCE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key and biometrics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Keystore (StrongBox) + BiometricPrompt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E8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Enclave + LocalAuthentication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HUKS + User Authentication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Integrity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HMS Safety Detect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Attest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Security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 Push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Huawei IAP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StoreKit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IAP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+ SQLCipher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E8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GRDB + SQLCipher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RelationalStore (encrypted)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widget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Glance widget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Glance widget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WidgetKit lock 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widget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scanner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HMS ML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screens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FLAG_SECURE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FLAG_SECURE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App-switcher blur, capture 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setWindowPrivacyMode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EVERY TAP THAT TOUCHES DATA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of one request from the phone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docs/architecture/03 §3.3 · if policy or audit is down, reads of content fail closed (503)</a:t>
            </a:r>
            <a:endParaRPr lang="en-US" sz="1000" dirty="0"/>
          </a:p>
        </p:txBody>
      </p:sp>
      <p:sp>
        <p:nvSpPr>
          <p:cNvPr id="5" name="hop-1"/>
          <p:cNvSpPr/>
          <p:nvPr/>
        </p:nvSpPr>
        <p:spPr>
          <a:xfrm>
            <a:off x="548640" y="1737360"/>
            <a:ext cx="1417320" cy="2651760"/>
          </a:xfrm>
          <a:prstGeom prst="roundRect">
            <a:avLst>
              <a:gd name="adj" fmla="val 7742"/>
            </a:avLst>
          </a:prstGeom>
          <a:solidFill>
            <a:srgbClr val="0B2E21"/>
          </a:solidFill>
          <a:ln w="12700">
            <a:solidFill>
              <a:srgbClr val="0B2E2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1143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7C9BE"/>
                </a:solidFill>
              </a:rPr>
              <a:t>Access token (10 min) + DPoP proof signed by the device key (+ step-up token)</a:t>
            </a:r>
            <a:endParaRPr lang="en-US" sz="1150" dirty="0"/>
          </a:p>
        </p:txBody>
      </p:sp>
      <p:sp>
        <p:nvSpPr>
          <p:cNvPr id="8" name="hop-arrow-1"/>
          <p:cNvSpPr/>
          <p:nvPr/>
        </p:nvSpPr>
        <p:spPr>
          <a:xfrm>
            <a:off x="1975104" y="2926080"/>
            <a:ext cx="164592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9" name="hop-2"/>
          <p:cNvSpPr/>
          <p:nvPr/>
        </p:nvSpPr>
        <p:spPr>
          <a:xfrm>
            <a:off x="2148840" y="1737360"/>
            <a:ext cx="1417320" cy="26517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514600"/>
            <a:ext cx="1143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</a:rPr>
              <a:t>OWASP rules, bot manager, DDoS protection</a:t>
            </a:r>
            <a:endParaRPr lang="en-US" sz="1150" dirty="0"/>
          </a:p>
        </p:txBody>
      </p:sp>
      <p:sp>
        <p:nvSpPr>
          <p:cNvPr id="12" name="hop-arrow-2"/>
          <p:cNvSpPr/>
          <p:nvPr/>
        </p:nvSpPr>
        <p:spPr>
          <a:xfrm>
            <a:off x="3575304" y="2926080"/>
            <a:ext cx="164592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13" name="hop-3"/>
          <p:cNvSpPr/>
          <p:nvPr/>
        </p:nvSpPr>
        <p:spPr>
          <a:xfrm>
            <a:off x="3749040" y="1737360"/>
            <a:ext cx="1417320" cy="26517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8620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Management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2514600"/>
            <a:ext cx="1143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</a:rPr>
              <a:t>JWT check, rate limits, signed claims header</a:t>
            </a:r>
            <a:endParaRPr lang="en-US" sz="1150" dirty="0"/>
          </a:p>
        </p:txBody>
      </p:sp>
      <p:sp>
        <p:nvSpPr>
          <p:cNvPr id="16" name="hop-arrow-3"/>
          <p:cNvSpPr/>
          <p:nvPr/>
        </p:nvSpPr>
        <p:spPr>
          <a:xfrm>
            <a:off x="5175504" y="2926080"/>
            <a:ext cx="164592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17" name="hop-4"/>
          <p:cNvSpPr/>
          <p:nvPr/>
        </p:nvSpPr>
        <p:spPr>
          <a:xfrm>
            <a:off x="5349240" y="1737360"/>
            <a:ext cx="1417320" cy="26517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2514600"/>
            <a:ext cx="1143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</a:rPr>
              <a:t>Verifies DPoP binding, step-up scope and freshness</a:t>
            </a:r>
            <a:endParaRPr lang="en-US" sz="1150" dirty="0"/>
          </a:p>
        </p:txBody>
      </p:sp>
      <p:sp>
        <p:nvSpPr>
          <p:cNvPr id="20" name="hop-arrow-4"/>
          <p:cNvSpPr/>
          <p:nvPr/>
        </p:nvSpPr>
        <p:spPr>
          <a:xfrm>
            <a:off x="6775704" y="2926080"/>
            <a:ext cx="164592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21" name="hop-5"/>
          <p:cNvSpPr/>
          <p:nvPr/>
        </p:nvSpPr>
        <p:spPr>
          <a:xfrm>
            <a:off x="6949440" y="1737360"/>
            <a:ext cx="1417320" cy="26517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8660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Entitlement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2514600"/>
            <a:ext cx="1143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</a:rPr>
              <a:t>Limits by feature key, cached 60 s</a:t>
            </a:r>
            <a:endParaRPr lang="en-US" sz="1150" dirty="0"/>
          </a:p>
        </p:txBody>
      </p:sp>
      <p:sp>
        <p:nvSpPr>
          <p:cNvPr id="24" name="hop-arrow-5"/>
          <p:cNvSpPr/>
          <p:nvPr/>
        </p:nvSpPr>
        <p:spPr>
          <a:xfrm>
            <a:off x="8375904" y="2926080"/>
            <a:ext cx="164592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25" name="hop-6"/>
          <p:cNvSpPr/>
          <p:nvPr/>
        </p:nvSpPr>
        <p:spPr>
          <a:xfrm>
            <a:off x="8549640" y="1737360"/>
            <a:ext cx="1417320" cy="26517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2514600"/>
            <a:ext cx="1143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</a:rPr>
              <a:t>Deny by default: role × item × estate state × release rule</a:t>
            </a:r>
            <a:endParaRPr lang="en-US" sz="1150" dirty="0"/>
          </a:p>
        </p:txBody>
      </p:sp>
      <p:sp>
        <p:nvSpPr>
          <p:cNvPr id="28" name="hop-arrow-6"/>
          <p:cNvSpPr/>
          <p:nvPr/>
        </p:nvSpPr>
        <p:spPr>
          <a:xfrm>
            <a:off x="9976104" y="2926080"/>
            <a:ext cx="164592" cy="274320"/>
          </a:xfrm>
          <a:prstGeom prst="rightArrow">
            <a:avLst/>
          </a:prstGeom>
          <a:solidFill>
            <a:srgbClr val="D9B373"/>
          </a:solidFill>
          <a:ln w="12700">
            <a:solidFill>
              <a:srgbClr val="D9B373"/>
            </a:solidFill>
            <a:prstDash val="solid"/>
          </a:ln>
        </p:spPr>
      </p:sp>
      <p:sp>
        <p:nvSpPr>
          <p:cNvPr id="29" name="hop-7"/>
          <p:cNvSpPr/>
          <p:nvPr/>
        </p:nvSpPr>
        <p:spPr>
          <a:xfrm>
            <a:off x="10149840" y="1737360"/>
            <a:ext cx="1417320" cy="26517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8700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ledger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87000" y="2514600"/>
            <a:ext cx="1143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</a:rPr>
              <a:t>Hash-chained, append-only; written before content returns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1D"/>
                </a:solidFill>
              </a:rPr>
              <a:t>All of this runs in Azure South Africa North. Personal data never leaves South Africa (NFR-PRV-001).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25B"/>
                </a:solidFill>
              </a:rPr>
              <a:t>Messages between services carry IDs only, never estate content; each consumer fetches what it needs with its own policy check.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JOURNEY 1 OF 10 · REAL APP SCREENSHOT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and secure the phone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FR-ONB-001..007 · D-009, D-022 · account is active only when email, mobile and planning consent are recorded</a:t>
            </a:r>
            <a:endParaRPr lang="en-US" sz="1000" dirty="0"/>
          </a:p>
        </p:txBody>
      </p:sp>
      <p:sp>
        <p:nvSpPr>
          <p:cNvPr id="5" name="phone-frame"/>
          <p:cNvSpPr/>
          <p:nvPr/>
        </p:nvSpPr>
        <p:spPr>
          <a:xfrm>
            <a:off x="548640" y="1325880"/>
            <a:ext cx="2093976" cy="4294499"/>
          </a:xfrm>
          <a:prstGeom prst="roundRect">
            <a:avLst>
              <a:gd name="adj" fmla="val 9607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phone-screen" descr="iPhone · iOS simulator Verify your mobi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1874520" cy="4075043"/>
          </a:xfrm>
          <a:prstGeom prst="rect">
            <a:avLst/>
          </a:prstGeom>
        </p:spPr>
      </p:pic>
      <p:sp>
        <p:nvSpPr>
          <p:cNvPr id="7" name="phone-caption"/>
          <p:cNvSpPr txBox="1"/>
          <p:nvPr/>
        </p:nvSpPr>
        <p:spPr>
          <a:xfrm>
            <a:off x="548640" y="5675243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iPhone · iOS simulator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Verify your mobile</a:t>
            </a:r>
            <a:endParaRPr lang="en-US" sz="1000" dirty="0"/>
          </a:p>
        </p:txBody>
      </p:sp>
      <p:sp>
        <p:nvSpPr>
          <p:cNvPr id="8" name="step-dot-1"/>
          <p:cNvSpPr/>
          <p:nvPr/>
        </p:nvSpPr>
        <p:spPr>
          <a:xfrm>
            <a:off x="3291840" y="138988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Create the account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Email and password with an email code, through Microsoft Entra External ID (native sign-in, PKCE)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8836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 External ID · MSAL</a:t>
            </a:r>
            <a:endParaRPr lang="en-US" sz="1050" dirty="0"/>
          </a:p>
        </p:txBody>
      </p:sp>
      <p:sp>
        <p:nvSpPr>
          <p:cNvPr id="13" name="step-dot-2"/>
          <p:cNvSpPr/>
          <p:nvPr/>
        </p:nvSpPr>
        <p:spPr>
          <a:xfrm>
            <a:off x="3291840" y="2176272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157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Bind this phone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A P-256 key is created in hardware and registered with an attestation verdict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670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/v1/devices</a:t>
            </a:r>
            <a:endParaRPr lang="en-US" sz="1050" dirty="0"/>
          </a:p>
        </p:txBody>
      </p:sp>
      <p:sp>
        <p:nvSpPr>
          <p:cNvPr id="18" name="step-dot-3"/>
          <p:cNvSpPr/>
          <p:nvPr/>
        </p:nvSpPr>
        <p:spPr>
          <a:xfrm>
            <a:off x="3291840" y="2962656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Verify the mobile number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SMS code plus a SIM-swap check through Clickatell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/v1/me/mobile-verification · …/confirm</a:t>
            </a:r>
            <a:endParaRPr lang="en-US" sz="1050" dirty="0"/>
          </a:p>
        </p:txBody>
      </p:sp>
      <p:sp>
        <p:nvSpPr>
          <p:cNvPr id="23" name="step-dot-4"/>
          <p:cNvSpPr/>
          <p:nvPr/>
        </p:nvSpPr>
        <p:spPr>
          <a:xfrm>
            <a:off x="3291840" y="3749040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Record consent per purpose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Planning consent is required; marketing is opt-in and off by default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/v1/me/consents</a:t>
            </a:r>
            <a:endParaRPr lang="en-US" sz="1050" dirty="0"/>
          </a:p>
        </p:txBody>
      </p:sp>
      <p:sp>
        <p:nvSpPr>
          <p:cNvPr id="28" name="step-dot-5"/>
          <p:cNvSpPr/>
          <p:nvPr/>
        </p:nvSpPr>
        <p:spPr>
          <a:xfrm>
            <a:off x="3291840" y="4535424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918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840480" y="4517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Check the ID number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0" y="4791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SA ID checksum and date of birth; minimum testamentary age from configuration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5029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/v1/me/identity-document</a:t>
            </a:r>
            <a:endParaRPr lang="en-US" sz="1050" dirty="0"/>
          </a:p>
        </p:txBody>
      </p:sp>
      <p:sp>
        <p:nvSpPr>
          <p:cNvPr id="33" name="step-dot-6"/>
          <p:cNvSpPr/>
          <p:nvPr/>
        </p:nvSpPr>
        <p:spPr>
          <a:xfrm>
            <a:off x="3291840" y="532180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291840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3840480" y="5303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Unlock with biometrics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3840480" y="5577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On every cold start and after 5 minutes in the background; unlocks the local cache key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3840480" y="58155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BiometricPrompt · LocalAuthentication · User Authentication Kit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JOURNEY 2 OF 10 · REAL APP SCREENSHOT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where you stand: the Legacy Score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FR-SCR-001..009 · score history and life events need the scr.history and scr.life_events keys (Plus and Family)</a:t>
            </a:r>
            <a:endParaRPr lang="en-US" sz="1000" dirty="0"/>
          </a:p>
        </p:txBody>
      </p:sp>
      <p:sp>
        <p:nvSpPr>
          <p:cNvPr id="5" name="phone-frame"/>
          <p:cNvSpPr/>
          <p:nvPr/>
        </p:nvSpPr>
        <p:spPr>
          <a:xfrm>
            <a:off x="548640" y="1325880"/>
            <a:ext cx="2093976" cy="4385056"/>
          </a:xfrm>
          <a:prstGeom prst="roundRect">
            <a:avLst>
              <a:gd name="adj" fmla="val 9607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phone-screen" descr="Android · Google Play build Home with the Legacy Scor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1874520" cy="4165600"/>
          </a:xfrm>
          <a:prstGeom prst="rect">
            <a:avLst/>
          </a:prstGeom>
        </p:spPr>
      </p:pic>
      <p:sp>
        <p:nvSpPr>
          <p:cNvPr id="7" name="phone-caption"/>
          <p:cNvSpPr txBox="1"/>
          <p:nvPr/>
        </p:nvSpPr>
        <p:spPr>
          <a:xfrm>
            <a:off x="548640" y="5765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Android · Google Play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Home with the Legacy Score</a:t>
            </a:r>
            <a:endParaRPr lang="en-US" sz="1000" dirty="0"/>
          </a:p>
        </p:txBody>
      </p:sp>
      <p:sp>
        <p:nvSpPr>
          <p:cNvPr id="8" name="step-dot-1"/>
          <p:cNvSpPr/>
          <p:nvPr/>
        </p:nvSpPr>
        <p:spPr>
          <a:xfrm>
            <a:off x="3291840" y="138988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Answer the readiness questions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A short assessment; the question bank is versioned content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8836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/v1/assessment · PUT /v1/assessment/answers</a:t>
            </a:r>
            <a:endParaRPr lang="en-US" sz="1050" dirty="0"/>
          </a:p>
        </p:txBody>
      </p:sp>
      <p:sp>
        <p:nvSpPr>
          <p:cNvPr id="13" name="step-dot-2"/>
          <p:cNvSpPr/>
          <p:nvPr/>
        </p:nvSpPr>
        <p:spPr>
          <a:xfrm>
            <a:off x="3291840" y="2176272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157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Get a score out of 100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Weights: Will 25 · Assets 20 · Protection 20 · Family 20 · Documents 15 (D-018)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670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/v1/score</a:t>
            </a:r>
            <a:endParaRPr lang="en-US" sz="1050" dirty="0"/>
          </a:p>
        </p:txBody>
      </p:sp>
      <p:sp>
        <p:nvSpPr>
          <p:cNvPr id="18" name="step-dot-3"/>
          <p:cNvSpPr/>
          <p:nvPr/>
        </p:nvSpPr>
        <p:spPr>
          <a:xfrm>
            <a:off x="3291840" y="2962656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See the next best actions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Each action shows the points it adds, e.g. "Name an alternate guardian · Adds 3 points"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/v1/score/actions</a:t>
            </a:r>
            <a:endParaRPr lang="en-US" sz="1050" dirty="0"/>
          </a:p>
        </p:txBody>
      </p:sp>
      <p:sp>
        <p:nvSpPr>
          <p:cNvPr id="23" name="step-dot-4"/>
          <p:cNvSpPr/>
          <p:nvPr/>
        </p:nvSpPr>
        <p:spPr>
          <a:xfrm>
            <a:off x="3291840" y="3749040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See what happens without a will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An intestate-succession preview, clearly labelled education, not advice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/v1/score/intestate-preview</a:t>
            </a:r>
            <a:endParaRPr lang="en-US" sz="1050" dirty="0"/>
          </a:p>
        </p:txBody>
      </p:sp>
      <p:sp>
        <p:nvSpPr>
          <p:cNvPr id="28" name="step-dot-5"/>
          <p:cNvSpPr/>
          <p:nvPr/>
        </p:nvSpPr>
        <p:spPr>
          <a:xfrm>
            <a:off x="3291840" y="4535424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918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840480" y="4517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Watch it change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0" y="4791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Any estate change publishes estate.changed; the score service rescores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5029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Bus · estate.changed → score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JOURNEY 3 OF 10 · REAL APP SCREENSHOT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will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FR-WIL-001..018 · Free tier keeps one draft (D-015) · will templates ship as [VERIFY] until the attorney signs off</a:t>
            </a:r>
            <a:endParaRPr lang="en-US" sz="1000" dirty="0"/>
          </a:p>
        </p:txBody>
      </p:sp>
      <p:sp>
        <p:nvSpPr>
          <p:cNvPr id="5" name="phone-frame"/>
          <p:cNvSpPr/>
          <p:nvPr/>
        </p:nvSpPr>
        <p:spPr>
          <a:xfrm>
            <a:off x="548640" y="1325880"/>
            <a:ext cx="2093976" cy="4294499"/>
          </a:xfrm>
          <a:prstGeom prst="roundRect">
            <a:avLst>
              <a:gd name="adj" fmla="val 9607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phone-screen" descr="iPhone · iOS simulator Will builder, step 3 of 7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1874520" cy="4075043"/>
          </a:xfrm>
          <a:prstGeom prst="rect">
            <a:avLst/>
          </a:prstGeom>
        </p:spPr>
      </p:pic>
      <p:sp>
        <p:nvSpPr>
          <p:cNvPr id="7" name="phone-caption"/>
          <p:cNvSpPr txBox="1"/>
          <p:nvPr/>
        </p:nvSpPr>
        <p:spPr>
          <a:xfrm>
            <a:off x="548640" y="5675243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iPhone · iOS simulator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Will builder, step 3 of 7</a:t>
            </a:r>
            <a:endParaRPr lang="en-US" sz="1000" dirty="0"/>
          </a:p>
        </p:txBody>
      </p:sp>
      <p:sp>
        <p:nvSpPr>
          <p:cNvPr id="8" name="step-dot-1"/>
          <p:cNvSpPr/>
          <p:nvPr/>
        </p:nvSpPr>
        <p:spPr>
          <a:xfrm>
            <a:off x="3291840" y="138988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Marital regime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In or out of community of property, with or without accrual, or customary marriage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8836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/v1/wills · PATCH /v1/wills/{willId}</a:t>
            </a:r>
            <a:endParaRPr lang="en-US" sz="1050" dirty="0"/>
          </a:p>
        </p:txBody>
      </p:sp>
      <p:sp>
        <p:nvSpPr>
          <p:cNvPr id="13" name="step-dot-2"/>
          <p:cNvSpPr/>
          <p:nvPr/>
        </p:nvSpPr>
        <p:spPr>
          <a:xfrm>
            <a:off x="3291840" y="2176272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157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Divide the residue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Shares must total exactly 100%; anything else blocks with a plain message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670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/v1/wills/{willId}/residue</a:t>
            </a:r>
            <a:endParaRPr lang="en-US" sz="1050" dirty="0"/>
          </a:p>
        </p:txBody>
      </p:sp>
      <p:sp>
        <p:nvSpPr>
          <p:cNvPr id="18" name="step-dot-3"/>
          <p:cNvSpPr/>
          <p:nvPr/>
        </p:nvSpPr>
        <p:spPr>
          <a:xfrm>
            <a:off x="3291840" y="2962656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Gifts, guardians, executors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A minor’s share triggers the Guardian’s Fund warning; nominations do not count toward role limits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…/bequests · …/guardianship · …/executors</a:t>
            </a:r>
            <a:endParaRPr lang="en-US" sz="1050" dirty="0"/>
          </a:p>
        </p:txBody>
      </p:sp>
      <p:sp>
        <p:nvSpPr>
          <p:cNvPr id="23" name="step-dot-4"/>
          <p:cNvSpPr/>
          <p:nvPr/>
        </p:nvSpPr>
        <p:spPr>
          <a:xfrm>
            <a:off x="3291840" y="3749040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Review and signing pack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Attorney-approved clauses render to a PDF signing pack with witness instructions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/v1/wills/{willId}/signing-pack · docgen</a:t>
            </a:r>
            <a:endParaRPr lang="en-US" sz="1050" dirty="0"/>
          </a:p>
        </p:txBody>
      </p:sp>
      <p:sp>
        <p:nvSpPr>
          <p:cNvPr id="28" name="step-dot-5"/>
          <p:cNvSpPr/>
          <p:nvPr/>
        </p:nvSpPr>
        <p:spPr>
          <a:xfrm>
            <a:off x="3291840" y="4535424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918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840480" y="4517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Record the signing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0" y="4791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Lifa never e-signs: the owner records the wet-ink signing and witnesses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5029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/v1/wills/{willId}/execution</a:t>
            </a:r>
            <a:endParaRPr lang="en-US" sz="1050" dirty="0"/>
          </a:p>
        </p:txBody>
      </p:sp>
      <p:sp>
        <p:nvSpPr>
          <p:cNvPr id="33" name="step-dot-6"/>
          <p:cNvSpPr/>
          <p:nvPr/>
        </p:nvSpPr>
        <p:spPr>
          <a:xfrm>
            <a:off x="3291840" y="532180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291840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3840480" y="5303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Keep it current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3840480" y="5577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Life events and a 3-year check mark the will stale and prompt a review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3840480" y="58155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will.stale · life-event.declared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JOURNEY 4 OF 10 · REAL APP SCREENSHOT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assets and family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FR-AST-*, FR-FAM-*, FR-WAL-* · Free: 15 asset and debt records, 10 people (ast.max_records, fam.max_people)</a:t>
            </a:r>
            <a:endParaRPr lang="en-US" sz="1000" dirty="0"/>
          </a:p>
        </p:txBody>
      </p:sp>
      <p:sp>
        <p:nvSpPr>
          <p:cNvPr id="5" name="phone-frame"/>
          <p:cNvSpPr/>
          <p:nvPr/>
        </p:nvSpPr>
        <p:spPr>
          <a:xfrm>
            <a:off x="548640" y="1325880"/>
            <a:ext cx="2093976" cy="4385056"/>
          </a:xfrm>
          <a:prstGeom prst="roundRect">
            <a:avLst>
              <a:gd name="adj" fmla="val 9607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phone-screen" descr="Android · Huawei build Assets and deb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1874520" cy="4165600"/>
          </a:xfrm>
          <a:prstGeom prst="rect">
            <a:avLst/>
          </a:prstGeom>
        </p:spPr>
      </p:pic>
      <p:sp>
        <p:nvSpPr>
          <p:cNvPr id="7" name="phone-caption"/>
          <p:cNvSpPr txBox="1"/>
          <p:nvPr/>
        </p:nvSpPr>
        <p:spPr>
          <a:xfrm>
            <a:off x="548640" y="5765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Android · Huawei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Assets and debts</a:t>
            </a:r>
            <a:endParaRPr lang="en-US" sz="1000" dirty="0"/>
          </a:p>
        </p:txBody>
      </p:sp>
      <p:sp>
        <p:nvSpPr>
          <p:cNvPr id="8" name="step-dot-1"/>
          <p:cNvSpPr/>
          <p:nvPr/>
        </p:nvSpPr>
        <p:spPr>
          <a:xfrm>
            <a:off x="3291840" y="138988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Add people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Spouse, children, beneficiaries; a minor’s status updates automatically at 18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8836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/v1/estate/persons · GET /v1/estate/family-tree</a:t>
            </a:r>
            <a:endParaRPr lang="en-US" sz="1050" dirty="0"/>
          </a:p>
        </p:txBody>
      </p:sp>
      <p:sp>
        <p:nvSpPr>
          <p:cNvPr id="13" name="step-dot-2"/>
          <p:cNvSpPr/>
          <p:nvPr/>
        </p:nvSpPr>
        <p:spPr>
          <a:xfrm>
            <a:off x="3291840" y="2176272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157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Add assets and debts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Each value carries its evidence: Evidenced, Declared or Estimated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670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/v1/estate/assets · /v1/estate/liabilities</a:t>
            </a:r>
            <a:endParaRPr lang="en-US" sz="1050" dirty="0"/>
          </a:p>
        </p:txBody>
      </p:sp>
      <p:sp>
        <p:nvSpPr>
          <p:cNvPr id="18" name="step-dot-3"/>
          <p:cNvSpPr/>
          <p:nvPr/>
        </p:nvSpPr>
        <p:spPr>
          <a:xfrm>
            <a:off x="3291840" y="2962656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Read a statement for me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Upload a statement and confirm the extracted fields (behind release.extraction)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/v1/extractions · …/confirm</a:t>
            </a:r>
            <a:endParaRPr lang="en-US" sz="1050" dirty="0"/>
          </a:p>
        </p:txBody>
      </p:sp>
      <p:sp>
        <p:nvSpPr>
          <p:cNvPr id="23" name="step-dot-4"/>
          <p:cNvSpPr/>
          <p:nvPr/>
        </p:nvSpPr>
        <p:spPr>
          <a:xfrm>
            <a:off x="3291840" y="3749040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See the balance sheet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Net estate, with values older than 12 months flagged for refresh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/v1/estate/balance-sheet</a:t>
            </a:r>
            <a:endParaRPr lang="en-US" sz="1050" dirty="0"/>
          </a:p>
        </p:txBody>
      </p:sp>
      <p:sp>
        <p:nvSpPr>
          <p:cNvPr id="28" name="step-dot-5"/>
          <p:cNvSpPr/>
          <p:nvPr/>
        </p:nvSpPr>
        <p:spPr>
          <a:xfrm>
            <a:off x="3291840" y="4535424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918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840480" y="4517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Track net worth monthly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0" y="4791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A monthly snapshot and a gentle balance-update prompt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5029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/v1/wallet/snapshots · POST …/balance-update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JOURNEY 5 OF 10 · REAL APP SCREENSHOT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documents in the vault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FR-VLT-001..011 · vault runs in the isolated pool B with its own database and storage account · Free 500 MB, Plus 10 GB</a:t>
            </a:r>
            <a:endParaRPr lang="en-US" sz="1000" dirty="0"/>
          </a:p>
        </p:txBody>
      </p:sp>
      <p:sp>
        <p:nvSpPr>
          <p:cNvPr id="5" name="phone-frame"/>
          <p:cNvSpPr/>
          <p:nvPr/>
        </p:nvSpPr>
        <p:spPr>
          <a:xfrm>
            <a:off x="548640" y="1325880"/>
            <a:ext cx="2093976" cy="4294499"/>
          </a:xfrm>
          <a:prstGeom prst="roundRect">
            <a:avLst>
              <a:gd name="adj" fmla="val 9607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phone-screen" descr="iPhone · iOS simulator Vault with Face ID step-u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1874520" cy="4075043"/>
          </a:xfrm>
          <a:prstGeom prst="rect">
            <a:avLst/>
          </a:prstGeom>
        </p:spPr>
      </p:pic>
      <p:sp>
        <p:nvSpPr>
          <p:cNvPr id="7" name="phone-caption"/>
          <p:cNvSpPr txBox="1"/>
          <p:nvPr/>
        </p:nvSpPr>
        <p:spPr>
          <a:xfrm>
            <a:off x="548640" y="5675243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iPhone · iOS simulator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Vault with Face ID step-up</a:t>
            </a:r>
            <a:endParaRPr lang="en-US" sz="1000" dirty="0"/>
          </a:p>
        </p:txBody>
      </p:sp>
      <p:sp>
        <p:nvSpPr>
          <p:cNvPr id="8" name="step-dot-1"/>
          <p:cNvSpPr/>
          <p:nvPr/>
        </p:nvSpPr>
        <p:spPr>
          <a:xfrm>
            <a:off x="3291840" y="138988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Step up with biometrics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The device key signs a server challenge; the step-up token lasts 5 minutes, scope vault.write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8836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/v1/step-up/challenges · /verifications</a:t>
            </a:r>
            <a:endParaRPr lang="en-US" sz="1050" dirty="0"/>
          </a:p>
        </p:txBody>
      </p:sp>
      <p:sp>
        <p:nvSpPr>
          <p:cNvPr id="13" name="step-dot-2"/>
          <p:cNvSpPr/>
          <p:nvPr/>
        </p:nvSpPr>
        <p:spPr>
          <a:xfrm>
            <a:off x="3291840" y="2176272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157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Upload or scan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Platform scanner (ML Kit, HMS ML Kit, VisionKit); bytes never written to the photo library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670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/v1/vault/documents</a:t>
            </a:r>
            <a:endParaRPr lang="en-US" sz="1050" dirty="0"/>
          </a:p>
        </p:txBody>
      </p:sp>
      <p:sp>
        <p:nvSpPr>
          <p:cNvPr id="18" name="step-dot-3"/>
          <p:cNvSpPr/>
          <p:nvPr/>
        </p:nvSpPr>
        <p:spPr>
          <a:xfrm>
            <a:off x="3291840" y="2962656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Encrypt per document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A fresh data key per file, wrapped by the owner’s own key in Azure Managed HSM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 HSM · owner-kek/{ownerId}</a:t>
            </a:r>
            <a:endParaRPr lang="en-US" sz="1050" dirty="0"/>
          </a:p>
        </p:txBody>
      </p:sp>
      <p:sp>
        <p:nvSpPr>
          <p:cNvPr id="23" name="step-dot-4"/>
          <p:cNvSpPr/>
          <p:nvPr/>
        </p:nvSpPr>
        <p:spPr>
          <a:xfrm>
            <a:off x="3291840" y="3749040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Scan and check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ClamAV malware scan; detection of passwords, PINs and seed phrases, which Lifa never stores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document.uploaded → scan · SecretScanner</a:t>
            </a:r>
            <a:endParaRPr lang="en-US" sz="1050" dirty="0"/>
          </a:p>
        </p:txBody>
      </p:sp>
      <p:sp>
        <p:nvSpPr>
          <p:cNvPr id="28" name="step-dot-5"/>
          <p:cNvSpPr/>
          <p:nvPr/>
        </p:nvSpPr>
        <p:spPr>
          <a:xfrm>
            <a:off x="3291840" y="4535424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918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840480" y="4517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Read, with an audit trail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0" y="4791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Every read is written to the ledger before any byte is returned; screenshots blocked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5029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/v1/vault/documents/{id}/content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JOURNEY 6 OF 10 · REAL APP SCREENSHOT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who sees what, and the emergency card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FR-PRM-001..007, FR-EMG-001..003 · D-016, D-017 · Free: one role holder (emergency contact only)</a:t>
            </a:r>
            <a:endParaRPr lang="en-US" sz="1000" dirty="0"/>
          </a:p>
        </p:txBody>
      </p:sp>
      <p:sp>
        <p:nvSpPr>
          <p:cNvPr id="5" name="phone-frame"/>
          <p:cNvSpPr/>
          <p:nvPr/>
        </p:nvSpPr>
        <p:spPr>
          <a:xfrm>
            <a:off x="548640" y="1325880"/>
            <a:ext cx="2093976" cy="4385056"/>
          </a:xfrm>
          <a:prstGeom prst="roundRect">
            <a:avLst>
              <a:gd name="adj" fmla="val 9607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phone-screen" descr="Android · Google Play build Emergency card and acces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1874520" cy="4165600"/>
          </a:xfrm>
          <a:prstGeom prst="rect">
            <a:avLst/>
          </a:prstGeom>
        </p:spPr>
      </p:pic>
      <p:sp>
        <p:nvSpPr>
          <p:cNvPr id="7" name="phone-caption"/>
          <p:cNvSpPr txBox="1"/>
          <p:nvPr/>
        </p:nvSpPr>
        <p:spPr>
          <a:xfrm>
            <a:off x="548640" y="5765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Android · Google Play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Emergency card and access</a:t>
            </a:r>
            <a:endParaRPr lang="en-US" sz="1000" dirty="0"/>
          </a:p>
        </p:txBody>
      </p:sp>
      <p:sp>
        <p:nvSpPr>
          <p:cNvPr id="8" name="step-dot-1"/>
          <p:cNvSpPr/>
          <p:nvPr/>
        </p:nvSpPr>
        <p:spPr>
          <a:xfrm>
            <a:off x="3291840" y="138988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Invite trusted people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Roles such as emergency contact, executor or verifier; they accept on their own device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8836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/v1/access/grants · /v1/invitations/{token}/accept</a:t>
            </a:r>
            <a:endParaRPr lang="en-US" sz="1050" dirty="0"/>
          </a:p>
        </p:txBody>
      </p:sp>
      <p:sp>
        <p:nvSpPr>
          <p:cNvPr id="13" name="step-dot-2"/>
          <p:cNvSpPr/>
          <p:nvPr/>
        </p:nvSpPr>
        <p:spPr>
          <a:xfrm>
            <a:off x="3291840" y="2176272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157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Set release rules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Per item: now, on incapacity or on death; changing a rule needs step-up release.write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670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/v1/access/release-rules/{type}/{id}</a:t>
            </a:r>
            <a:endParaRPr lang="en-US" sz="1050" dirty="0"/>
          </a:p>
        </p:txBody>
      </p:sp>
      <p:sp>
        <p:nvSpPr>
          <p:cNvPr id="18" name="step-dot-3"/>
          <p:cNvSpPr/>
          <p:nvPr/>
        </p:nvSpPr>
        <p:spPr>
          <a:xfrm>
            <a:off x="3291840" y="2962656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Revoke in one tap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Removing access never needs step-up; caches bust on grant.revoked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/v1/access/grants/{grantId}</a:t>
            </a:r>
            <a:endParaRPr lang="en-US" sz="1050" dirty="0"/>
          </a:p>
        </p:txBody>
      </p:sp>
      <p:sp>
        <p:nvSpPr>
          <p:cNvPr id="23" name="step-dot-4"/>
          <p:cNvSpPr/>
          <p:nvPr/>
        </p:nvSpPr>
        <p:spPr>
          <a:xfrm>
            <a:off x="3291840" y="3749040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Emergency card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Opt-in lock-screen widget, contacts only by default, read with a narrow revocable token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/v1/emergency-card/widget-tokens</a:t>
            </a:r>
            <a:endParaRPr lang="en-US" sz="1050" dirty="0"/>
          </a:p>
        </p:txBody>
      </p:sp>
      <p:sp>
        <p:nvSpPr>
          <p:cNvPr id="28" name="step-dot-5"/>
          <p:cNvSpPr/>
          <p:nvPr/>
        </p:nvSpPr>
        <p:spPr>
          <a:xfrm>
            <a:off x="3291840" y="4535424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918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840480" y="4517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Owner told about every access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0" y="4791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Each read by someone else notifies the owner; push text never contains estate content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5029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access.occurred → notification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JOURNEY 7 OF 10 · REAL APP SCREENSHOT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in touch: check-ins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FR-DMS-001..007 · behind release.dms until the SIM-swap and travel-pause end-to-end test passes</a:t>
            </a:r>
            <a:endParaRPr lang="en-US" sz="1000" dirty="0"/>
          </a:p>
        </p:txBody>
      </p:sp>
      <p:sp>
        <p:nvSpPr>
          <p:cNvPr id="5" name="phone-frame"/>
          <p:cNvSpPr/>
          <p:nvPr/>
        </p:nvSpPr>
        <p:spPr>
          <a:xfrm>
            <a:off x="548640" y="1325880"/>
            <a:ext cx="2093976" cy="4385056"/>
          </a:xfrm>
          <a:prstGeom prst="roundRect">
            <a:avLst>
              <a:gd name="adj" fmla="val 9607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phone-screen" descr="Android · Huawei build Monthly check-i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1874520" cy="4165600"/>
          </a:xfrm>
          <a:prstGeom prst="rect">
            <a:avLst/>
          </a:prstGeom>
        </p:spPr>
      </p:pic>
      <p:sp>
        <p:nvSpPr>
          <p:cNvPr id="7" name="phone-caption"/>
          <p:cNvSpPr txBox="1"/>
          <p:nvPr/>
        </p:nvSpPr>
        <p:spPr>
          <a:xfrm>
            <a:off x="548640" y="5765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Android · Huawei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Monthly check-in</a:t>
            </a:r>
            <a:endParaRPr lang="en-US" sz="1000" dirty="0"/>
          </a:p>
        </p:txBody>
      </p:sp>
      <p:sp>
        <p:nvSpPr>
          <p:cNvPr id="8" name="step-dot-1"/>
          <p:cNvSpPr/>
          <p:nvPr/>
        </p:nvSpPr>
        <p:spPr>
          <a:xfrm>
            <a:off x="3291840" y="138988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Choose a rhythm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Every 30, 60 or 90 days, with chosen verifiers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8836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/v1/check-in/settings</a:t>
            </a:r>
            <a:endParaRPr lang="en-US" sz="1050" dirty="0"/>
          </a:p>
        </p:txBody>
      </p:sp>
      <p:sp>
        <p:nvSpPr>
          <p:cNvPr id="13" name="step-dot-2"/>
          <p:cNvSpPr/>
          <p:nvPr/>
        </p:nvSpPr>
        <p:spPr>
          <a:xfrm>
            <a:off x="3291840" y="2176272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157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Get a quiet reminder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Push says only "You have a Lifa reminder"; nothing personal on the lock screen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670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checkin.due → FCM · Push Kit · APNs</a:t>
            </a:r>
            <a:endParaRPr lang="en-US" sz="1050" dirty="0"/>
          </a:p>
        </p:txBody>
      </p:sp>
      <p:sp>
        <p:nvSpPr>
          <p:cNvPr id="18" name="step-dot-3"/>
          <p:cNvSpPr/>
          <p:nvPr/>
        </p:nvSpPr>
        <p:spPr>
          <a:xfrm>
            <a:off x="3291840" y="2962656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Tap "I’m still here"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One tap confirms; travel pause up to 180 days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/v1/check-ins · /v1/check-in/pause</a:t>
            </a:r>
            <a:endParaRPr lang="en-US" sz="1050" dirty="0"/>
          </a:p>
        </p:txBody>
      </p:sp>
      <p:sp>
        <p:nvSpPr>
          <p:cNvPr id="23" name="step-dot-4"/>
          <p:cNvSpPr/>
          <p:nvPr/>
        </p:nvSpPr>
        <p:spPr>
          <a:xfrm>
            <a:off x="3291840" y="3749040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Missed check-ins escalate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SMS and email, then verifiers are asked to confirm the owner is safe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checkin.missed · verifier.notify</a:t>
            </a:r>
            <a:endParaRPr lang="en-US" sz="1050" dirty="0"/>
          </a:p>
        </p:txBody>
      </p:sp>
      <p:sp>
        <p:nvSpPr>
          <p:cNvPr id="28" name="step-dot-5"/>
          <p:cNvSpPr/>
          <p:nvPr/>
        </p:nvSpPr>
        <p:spPr>
          <a:xfrm>
            <a:off x="3291840" y="4535424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918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840480" y="4517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Never declares death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0" y="4791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Reports only open a verification case for human review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5029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/v1/verifier/requests/{id}/reports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JOURNEY 8 OF 10 · REAL APP SCREENSHOT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Activation: releasing access after death or incapacity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FR-ACT-001..008 · D-027, D-038 · behind release.activation until a red-team false-activation exercise fails to activate</a:t>
            </a:r>
            <a:endParaRPr lang="en-US" sz="1000" dirty="0"/>
          </a:p>
        </p:txBody>
      </p:sp>
      <p:sp>
        <p:nvSpPr>
          <p:cNvPr id="5" name="phone-frame"/>
          <p:cNvSpPr/>
          <p:nvPr/>
        </p:nvSpPr>
        <p:spPr>
          <a:xfrm>
            <a:off x="548640" y="1325880"/>
            <a:ext cx="2093976" cy="4294499"/>
          </a:xfrm>
          <a:prstGeom prst="roundRect">
            <a:avLst>
              <a:gd name="adj" fmla="val 9607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phone-screen" descr="iPhone · iOS simulator The 72-hour notice to the own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1874520" cy="4075043"/>
          </a:xfrm>
          <a:prstGeom prst="rect">
            <a:avLst/>
          </a:prstGeom>
        </p:spPr>
      </p:pic>
      <p:sp>
        <p:nvSpPr>
          <p:cNvPr id="7" name="phone-caption"/>
          <p:cNvSpPr txBox="1"/>
          <p:nvPr/>
        </p:nvSpPr>
        <p:spPr>
          <a:xfrm>
            <a:off x="548640" y="5675243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iPhone · iOS simulator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The 72-hour notice to the owner</a:t>
            </a:r>
            <a:endParaRPr lang="en-US" sz="1000" dirty="0"/>
          </a:p>
        </p:txBody>
      </p:sp>
      <p:sp>
        <p:nvSpPr>
          <p:cNvPr id="8" name="step-dot-1"/>
          <p:cNvSpPr/>
          <p:nvPr/>
        </p:nvSpPr>
        <p:spPr>
          <a:xfrm>
            <a:off x="3291840" y="138988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Request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Someone with a matching role reports the death or incapacity and uploads evidence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8836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/v1/activation-requests</a:t>
            </a:r>
            <a:endParaRPr lang="en-US" sz="1050" dirty="0"/>
          </a:p>
        </p:txBody>
      </p:sp>
      <p:sp>
        <p:nvSpPr>
          <p:cNvPr id="13" name="step-dot-2"/>
          <p:cNvSpPr/>
          <p:nvPr/>
        </p:nvSpPr>
        <p:spPr>
          <a:xfrm>
            <a:off x="3291840" y="2176272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157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Evidence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Family plan: two verifiers or a death certificate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670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FR-DMS-005</a:t>
            </a:r>
            <a:endParaRPr lang="en-US" sz="1050" dirty="0"/>
          </a:p>
        </p:txBody>
      </p:sp>
      <p:sp>
        <p:nvSpPr>
          <p:cNvPr id="18" name="step-dot-3"/>
          <p:cNvSpPr/>
          <p:nvPr/>
        </p:nvSpPr>
        <p:spPr>
          <a:xfrm>
            <a:off x="3291840" y="2962656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Four-eyes review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Two trained Operations staff approve; a reviewer can never approve a case they opened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back-office queue · SLA 2 business days</a:t>
            </a:r>
            <a:endParaRPr lang="en-US" sz="1050" dirty="0"/>
          </a:p>
        </p:txBody>
      </p:sp>
      <p:sp>
        <p:nvSpPr>
          <p:cNvPr id="23" name="step-dot-4"/>
          <p:cNvSpPr/>
          <p:nvPr/>
        </p:nvSpPr>
        <p:spPr>
          <a:xfrm>
            <a:off x="3291840" y="3749040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72-hour notice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Every owner channel is told; any owner sign-in cancels the request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FR-ACT-004 · waiver only by the Compliance Officer</a:t>
            </a:r>
            <a:endParaRPr lang="en-US" sz="1050" dirty="0"/>
          </a:p>
        </p:txBody>
      </p:sp>
      <p:sp>
        <p:nvSpPr>
          <p:cNvPr id="28" name="step-dot-5"/>
          <p:cNvSpPr/>
          <p:nvPr/>
        </p:nvSpPr>
        <p:spPr>
          <a:xfrm>
            <a:off x="3291840" y="4535424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918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840480" y="4517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Activated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0" y="4791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Release rules apply and the executor workspace opens; every decision is in the audit ledger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5029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activation.completed</a:t>
            </a:r>
            <a:endParaRPr lang="en-US" sz="1050" dirty="0"/>
          </a:p>
        </p:txBody>
      </p:sp>
      <p:sp>
        <p:nvSpPr>
          <p:cNvPr id="33" name="safeguard"/>
          <p:cNvSpPr/>
          <p:nvPr/>
        </p:nvSpPr>
        <p:spPr>
          <a:xfrm>
            <a:off x="3291840" y="5440680"/>
            <a:ext cx="8321040" cy="731520"/>
          </a:xfrm>
          <a:prstGeom prst="roundRect">
            <a:avLst>
              <a:gd name="adj" fmla="val 15000"/>
            </a:avLst>
          </a:prstGeom>
          <a:solidFill>
            <a:srgbClr val="FBF0E0"/>
          </a:solidFill>
          <a:ln w="12700">
            <a:solidFill>
              <a:srgbClr val="E3C79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520440" y="5577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1D"/>
                </a:solidFill>
              </a:rPr>
              <a:t>Incapacity releases only items whose rule says “on incapacity”. Lifa’s check-in switch never declares a death.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JOURNEY 9 OF 10 · REAL APP SCREENSHOT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executor’s workspace on the phone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FR-EXE-001..013 · behind release.executor · Lifa never acts for the executor; it organises their work</a:t>
            </a:r>
            <a:endParaRPr lang="en-US" sz="1000" dirty="0"/>
          </a:p>
        </p:txBody>
      </p:sp>
      <p:sp>
        <p:nvSpPr>
          <p:cNvPr id="5" name="phone-frame"/>
          <p:cNvSpPr/>
          <p:nvPr/>
        </p:nvSpPr>
        <p:spPr>
          <a:xfrm>
            <a:off x="548640" y="1325880"/>
            <a:ext cx="2093976" cy="4385056"/>
          </a:xfrm>
          <a:prstGeom prst="roundRect">
            <a:avLst>
              <a:gd name="adj" fmla="val 9607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phone-screen" descr="Android · Google Play build Executor checklis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1874520" cy="4165600"/>
          </a:xfrm>
          <a:prstGeom prst="rect">
            <a:avLst/>
          </a:prstGeom>
        </p:spPr>
      </p:pic>
      <p:sp>
        <p:nvSpPr>
          <p:cNvPr id="7" name="phone-caption"/>
          <p:cNvSpPr txBox="1"/>
          <p:nvPr/>
        </p:nvSpPr>
        <p:spPr>
          <a:xfrm>
            <a:off x="548640" y="5765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Android · Google Play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Executor checklist</a:t>
            </a:r>
            <a:endParaRPr lang="en-US" sz="1000" dirty="0"/>
          </a:p>
        </p:txBody>
      </p:sp>
      <p:sp>
        <p:nvSpPr>
          <p:cNvPr id="8" name="step-dot-1"/>
          <p:cNvSpPr/>
          <p:nvPr/>
        </p:nvSpPr>
        <p:spPr>
          <a:xfrm>
            <a:off x="3291840" y="138988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Estate file opens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Created on activation from a frozen copy of the owner’s plan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8836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/v1/estate-files/{id}</a:t>
            </a:r>
            <a:endParaRPr lang="en-US" sz="1050" dirty="0"/>
          </a:p>
        </p:txBody>
      </p:sp>
      <p:sp>
        <p:nvSpPr>
          <p:cNvPr id="13" name="step-dot-2"/>
          <p:cNvSpPr/>
          <p:nvPr/>
        </p:nvSpPr>
        <p:spPr>
          <a:xfrm>
            <a:off x="3291840" y="2176272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157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Work the checklist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Tasks and statutory deadlines with reminders (content from an estates attorney)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670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…/tasks · …/deadlines</a:t>
            </a:r>
            <a:endParaRPr lang="en-US" sz="1050" dirty="0"/>
          </a:p>
        </p:txBody>
      </p:sp>
      <p:sp>
        <p:nvSpPr>
          <p:cNvPr id="18" name="step-dot-3"/>
          <p:cNvSpPr/>
          <p:nvPr/>
        </p:nvSpPr>
        <p:spPr>
          <a:xfrm>
            <a:off x="3291840" y="2962656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Contact institutions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Letters generated for banks and insurers; claims tracked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…/institutions · …/letters · …/claims</a:t>
            </a:r>
            <a:endParaRPr lang="en-US" sz="1050" dirty="0"/>
          </a:p>
        </p:txBody>
      </p:sp>
      <p:sp>
        <p:nvSpPr>
          <p:cNvPr id="23" name="step-dot-4"/>
          <p:cNvSpPr/>
          <p:nvPr/>
        </p:nvSpPr>
        <p:spPr>
          <a:xfrm>
            <a:off x="3291840" y="3749040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Keep beneficiaries informed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Updates go to beneficiaries, who see only their own view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…/updates · /v1/shared/estates/{id}/beneficiary-view</a:t>
            </a:r>
            <a:endParaRPr lang="en-US" sz="1050" dirty="0"/>
          </a:p>
        </p:txBody>
      </p:sp>
      <p:sp>
        <p:nvSpPr>
          <p:cNvPr id="28" name="step-dot-5"/>
          <p:cNvSpPr/>
          <p:nvPr/>
        </p:nvSpPr>
        <p:spPr>
          <a:xfrm>
            <a:off x="3291840" y="4535424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918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840480" y="4517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Hand over and close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0" y="4791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Exports and the full claims register are on the web; mobile covers the day-to-day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5029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…/exports · …/distribution-complete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JOURNEY 10 OF 10 · REAL APP SCREENSHOT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and billing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FR-SUB-001..008 · D-004, D-007 · prices and trial terms come from the plan catalogue, not the app</a:t>
            </a:r>
            <a:endParaRPr lang="en-US" sz="1000" dirty="0"/>
          </a:p>
        </p:txBody>
      </p:sp>
      <p:sp>
        <p:nvSpPr>
          <p:cNvPr id="5" name="phone-frame"/>
          <p:cNvSpPr/>
          <p:nvPr/>
        </p:nvSpPr>
        <p:spPr>
          <a:xfrm>
            <a:off x="548640" y="1325880"/>
            <a:ext cx="2093976" cy="4294499"/>
          </a:xfrm>
          <a:prstGeom prst="roundRect">
            <a:avLst>
              <a:gd name="adj" fmla="val 9607"/>
            </a:avLst>
          </a:prstGeom>
          <a:solidFill>
            <a:srgbClr val="17231D"/>
          </a:solidFill>
          <a:ln w="12700">
            <a:solidFill>
              <a:srgbClr val="17231D"/>
            </a:solidFill>
            <a:prstDash val="solid"/>
          </a:ln>
        </p:spPr>
      </p:sp>
      <p:pic>
        <p:nvPicPr>
          <p:cNvPr id="6" name="phone-screen" descr="iPhone · iOS simulator Plan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435608"/>
            <a:ext cx="1874520" cy="4075043"/>
          </a:xfrm>
          <a:prstGeom prst="rect">
            <a:avLst/>
          </a:prstGeom>
        </p:spPr>
      </p:pic>
      <p:sp>
        <p:nvSpPr>
          <p:cNvPr id="7" name="phone-caption"/>
          <p:cNvSpPr txBox="1"/>
          <p:nvPr/>
        </p:nvSpPr>
        <p:spPr>
          <a:xfrm>
            <a:off x="548640" y="5675243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iPhone · iOS simulator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Plans</a:t>
            </a:r>
            <a:endParaRPr lang="en-US" sz="1000" dirty="0"/>
          </a:p>
        </p:txBody>
      </p:sp>
      <p:sp>
        <p:nvSpPr>
          <p:cNvPr id="8" name="step-dot-1"/>
          <p:cNvSpPr/>
          <p:nvPr/>
        </p:nvSpPr>
        <p:spPr>
          <a:xfrm>
            <a:off x="3291840" y="1389888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Show what each plan includes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The catalogue comes from the server; the app checks feature keys, never plan names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8836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/v1/catalogue · GET /v1/entitlements</a:t>
            </a:r>
            <a:endParaRPr lang="en-US" sz="1050" dirty="0"/>
          </a:p>
        </p:txBody>
      </p:sp>
      <p:sp>
        <p:nvSpPr>
          <p:cNvPr id="13" name="step-dot-2"/>
          <p:cNvSpPr/>
          <p:nvPr/>
        </p:nvSpPr>
        <p:spPr>
          <a:xfrm>
            <a:off x="3291840" y="2176272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157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Buy in the store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4323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StoreKit 2, Play Billing, Huawei IAP or IAP Kit, each linked to the Lifa account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670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appAccountToken · obfuscatedAccountId · developerPayload</a:t>
            </a:r>
            <a:endParaRPr lang="en-US" sz="1050" dirty="0"/>
          </a:p>
        </p:txBody>
      </p:sp>
      <p:sp>
        <p:nvSpPr>
          <p:cNvPr id="18" name="step-dot-3"/>
          <p:cNvSpPr/>
          <p:nvPr/>
        </p:nvSpPr>
        <p:spPr>
          <a:xfrm>
            <a:off x="3291840" y="2962656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Confirm on the server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Store notifications are the source of truth; the app’s receipt only speeds up the first grant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456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/v1/purchases/verifications · store webhooks</a:t>
            </a:r>
            <a:endParaRPr lang="en-US" sz="1050" dirty="0"/>
          </a:p>
        </p:txBody>
      </p:sp>
      <p:sp>
        <p:nvSpPr>
          <p:cNvPr id="23" name="step-dot-4"/>
          <p:cNvSpPr/>
          <p:nvPr/>
        </p:nvSpPr>
        <p:spPr>
          <a:xfrm>
            <a:off x="3291840" y="3749040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918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Unlock instantly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entitlement.changed reaches every device by silent push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42428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Bus → silent push</a:t>
            </a:r>
            <a:endParaRPr lang="en-US" sz="1050" dirty="0"/>
          </a:p>
        </p:txBody>
      </p:sp>
      <p:sp>
        <p:nvSpPr>
          <p:cNvPr id="28" name="step-dot-5"/>
          <p:cNvSpPr/>
          <p:nvPr/>
        </p:nvSpPr>
        <p:spPr>
          <a:xfrm>
            <a:off x="3291840" y="4535424"/>
            <a:ext cx="384048" cy="384048"/>
          </a:xfrm>
          <a:prstGeom prst="ellipse">
            <a:avLst/>
          </a:prstGeom>
          <a:solidFill>
            <a:srgbClr val="11402F"/>
          </a:solidFill>
          <a:ln w="12700">
            <a:solidFill>
              <a:srgbClr val="1140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918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840480" y="4517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1D"/>
                </a:solidFill>
              </a:rPr>
              <a:t>Downgrade safely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0" y="47914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</a:rPr>
              <a:t>Nothing is deleted: items over the new limit become read-only; 14-day grace on failed payments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5029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subscription.changed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ALSO IN RELEASE 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features, each behind its own release flag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Clients read flags from GET /v1/client-config and hide switched-off entry points; servers enforce them on every route</a:t>
            </a:r>
            <a:endParaRPr lang="en-US" sz="1000" dirty="0"/>
          </a:p>
        </p:txBody>
      </p:sp>
      <p:sp>
        <p:nvSpPr>
          <p:cNvPr id="5" name="feature-1"/>
          <p:cNvSpPr/>
          <p:nvPr/>
        </p:nvSpPr>
        <p:spPr>
          <a:xfrm>
            <a:off x="548640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Estate simulator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25B"/>
                </a:solidFill>
              </a:rPr>
              <a:t>If I died today, scenarios and liquidity gaps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release.simulation · tax tables approved</a:t>
            </a:r>
            <a:endParaRPr lang="en-US" sz="1050" dirty="0"/>
          </a:p>
        </p:txBody>
      </p:sp>
      <p:sp>
        <p:nvSpPr>
          <p:cNvPr id="9" name="feature-2"/>
          <p:cNvSpPr/>
          <p:nvPr/>
        </p:nvSpPr>
        <p:spPr>
          <a:xfrm>
            <a:off x="4338218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16459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legacy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1488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25B"/>
                </a:solidFill>
              </a:rPr>
              <a:t>Accounts, wishes and a sealed instruction split among chosen holders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30632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release.digital_legacy</a:t>
            </a:r>
            <a:endParaRPr lang="en-US" sz="1050" dirty="0"/>
          </a:p>
        </p:txBody>
      </p:sp>
      <p:sp>
        <p:nvSpPr>
          <p:cNvPr id="13" name="feature-3"/>
          <p:cNvSpPr/>
          <p:nvPr/>
        </p:nvSpPr>
        <p:spPr>
          <a:xfrm>
            <a:off x="8127797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02117" y="16459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planner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1488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25B"/>
                </a:solidFill>
              </a:rPr>
              <a:t>Education and a suitability questionnaire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30632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release.trusts · attorney-approved templates</a:t>
            </a:r>
            <a:endParaRPr lang="en-US" sz="1050" dirty="0"/>
          </a:p>
        </p:txBody>
      </p:sp>
      <p:sp>
        <p:nvSpPr>
          <p:cNvPr id="17" name="feature-4"/>
          <p:cNvSpPr/>
          <p:nvPr/>
        </p:nvSpPr>
        <p:spPr>
          <a:xfrm>
            <a:off x="548640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0233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262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25B"/>
                </a:solidFill>
              </a:rPr>
              <a:t>Find and book verified professionals; Paystack split payments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4406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release.marketplace · 50 verified listings</a:t>
            </a:r>
            <a:endParaRPr lang="en-US" sz="1050" dirty="0"/>
          </a:p>
        </p:txBody>
      </p:sp>
      <p:sp>
        <p:nvSpPr>
          <p:cNvPr id="21" name="feature-5"/>
          <p:cNvSpPr/>
          <p:nvPr/>
        </p:nvSpPr>
        <p:spPr>
          <a:xfrm>
            <a:off x="4338218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2538" y="40233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adviser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612538" y="45262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25B"/>
                </a:solidFill>
              </a:rPr>
              <a:t>Education answers from a curated SA knowledge base (OpenAI models, Azure SA North preferred)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12538" y="54406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release.ai_adviser · 300-question evaluation</a:t>
            </a:r>
            <a:endParaRPr lang="en-US" sz="1050" dirty="0"/>
          </a:p>
        </p:txBody>
      </p:sp>
      <p:sp>
        <p:nvSpPr>
          <p:cNvPr id="25" name="feature-6"/>
          <p:cNvSpPr/>
          <p:nvPr/>
        </p:nvSpPr>
        <p:spPr>
          <a:xfrm>
            <a:off x="8127797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02117" y="40233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verification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402117" y="45262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25B"/>
                </a:solidFill>
              </a:rPr>
              <a:t>Vendor identity check at sign-up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02117" y="54406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release.identity_verification · vendor contracted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SECURITY ON THE PHONE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protects an owner’s data on the device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docs/architecture/06 · NFR-SEC-*, NFR-PRV-*</a:t>
            </a:r>
            <a:endParaRPr lang="en-US" sz="1000" dirty="0"/>
          </a:p>
        </p:txBody>
      </p:sp>
      <p:sp>
        <p:nvSpPr>
          <p:cNvPr id="5" name="control-1"/>
          <p:cNvSpPr/>
          <p:nvPr/>
        </p:nvSpPr>
        <p:spPr>
          <a:xfrm>
            <a:off x="548640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0B2E21"/>
          </a:solidFill>
          <a:ln w="12700">
            <a:solidFill>
              <a:srgbClr val="0B2E2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B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to the device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7C9BE"/>
                </a:solidFill>
              </a:rPr>
              <a:t>Every call is signed by a non-exportable hardware key (DPoP); a stolen token alone is useless</a:t>
            </a:r>
            <a:endParaRPr lang="en-US" sz="1500" dirty="0"/>
          </a:p>
        </p:txBody>
      </p:sp>
      <p:sp>
        <p:nvSpPr>
          <p:cNvPr id="8" name="control-2"/>
          <p:cNvSpPr/>
          <p:nvPr/>
        </p:nvSpPr>
        <p:spPr>
          <a:xfrm>
            <a:off x="4338218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16459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Step-up for sensitive actions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25B"/>
                </a:solidFill>
              </a:rPr>
              <a:t>Vault, release rules, grants, export and deletion need a fresh biometric signature</a:t>
            </a:r>
            <a:endParaRPr lang="en-US" sz="1500" dirty="0"/>
          </a:p>
        </p:txBody>
      </p:sp>
      <p:sp>
        <p:nvSpPr>
          <p:cNvPr id="11" name="control-3"/>
          <p:cNvSpPr/>
          <p:nvPr/>
        </p:nvSpPr>
        <p:spPr>
          <a:xfrm>
            <a:off x="8127797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2117" y="16459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connections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2423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25B"/>
                </a:solidFill>
              </a:rPr>
              <a:t>SPKI pins for the API hosts, refreshed through signed client config</a:t>
            </a:r>
            <a:endParaRPr lang="en-US" sz="1500" dirty="0"/>
          </a:p>
        </p:txBody>
      </p:sp>
      <p:sp>
        <p:nvSpPr>
          <p:cNvPr id="14" name="control-4"/>
          <p:cNvSpPr/>
          <p:nvPr/>
        </p:nvSpPr>
        <p:spPr>
          <a:xfrm>
            <a:off x="548640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233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local cache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0060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25B"/>
                </a:solidFill>
              </a:rPr>
              <a:t>SQLCipher or encrypted RelationalStore; key released only by biometric unlock</a:t>
            </a:r>
            <a:endParaRPr lang="en-US" sz="1500" dirty="0"/>
          </a:p>
        </p:txBody>
      </p:sp>
      <p:sp>
        <p:nvSpPr>
          <p:cNvPr id="17" name="control-5"/>
          <p:cNvSpPr/>
          <p:nvPr/>
        </p:nvSpPr>
        <p:spPr>
          <a:xfrm>
            <a:off x="4338218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2538" y="40233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rooted phones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612538" y="480060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25B"/>
                </a:solidFill>
              </a:rPr>
              <a:t>Planning keeps working; vault, upload, widget and export are blocked, with an explanation</a:t>
            </a:r>
            <a:endParaRPr lang="en-US" sz="1500" dirty="0"/>
          </a:p>
        </p:txBody>
      </p:sp>
      <p:sp>
        <p:nvSpPr>
          <p:cNvPr id="20" name="control-6"/>
          <p:cNvSpPr/>
          <p:nvPr/>
        </p:nvSpPr>
        <p:spPr>
          <a:xfrm>
            <a:off x="8127797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02117" y="40233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on the lock screen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480060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25B"/>
                </a:solidFill>
              </a:rPr>
              <a:t>Push text is generic; analytics carry no names, amounts or IDs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5A1E"/>
                </a:solidFill>
              </a:rPr>
              <a:t>BEHIND THE APPS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and cloud stack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25B"/>
                </a:solidFill>
              </a:rPr>
              <a:t>D-008, D-009, D-010, D-019, D-020, D-028, D-036 · all hosting in Azure South Africa North; DR in South Africa West</a:t>
            </a:r>
            <a:endParaRPr lang="en-US" sz="1000" dirty="0"/>
          </a:p>
        </p:txBody>
      </p:sp>
      <p:sp>
        <p:nvSpPr>
          <p:cNvPr id="5" name="stack-1"/>
          <p:cNvSpPr/>
          <p:nvPr/>
        </p:nvSpPr>
        <p:spPr>
          <a:xfrm>
            <a:off x="548640" y="1417320"/>
            <a:ext cx="2036003" cy="4206240"/>
          </a:xfrm>
          <a:prstGeom prst="roundRect">
            <a:avLst>
              <a:gd name="adj" fmla="val 5389"/>
            </a:avLst>
          </a:prstGeom>
          <a:solidFill>
            <a:srgbClr val="0B2E21"/>
          </a:solidFill>
          <a:ln w="12700">
            <a:solidFill>
              <a:srgbClr val="0B2E2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459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B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14600"/>
            <a:ext cx="1633667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6F3EC"/>
                </a:solidFill>
              </a:rPr>
              <a:t>Kotlin + Spring Boot on JVM 21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6F3EC"/>
                </a:solidFill>
              </a:rPr>
              <a:t>22 modules shipped as 12 deployables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6F3EC"/>
                </a:solidFill>
              </a:rPr>
              <a:t>Contract-first OpenAPI 3.1, generated clients</a:t>
            </a:r>
            <a:endParaRPr lang="en-US" sz="1400" dirty="0"/>
          </a:p>
        </p:txBody>
      </p:sp>
      <p:sp>
        <p:nvSpPr>
          <p:cNvPr id="8" name="stack-2"/>
          <p:cNvSpPr/>
          <p:nvPr/>
        </p:nvSpPr>
        <p:spPr>
          <a:xfrm>
            <a:off x="2813243" y="1417320"/>
            <a:ext cx="2036003" cy="42062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4411" y="16459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014411" y="2514600"/>
            <a:ext cx="1633667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AKS with Istio mTLS, three isolated node pools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Front Door Premium + WAF, API Management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Azure Service Bus with transactional outbox</a:t>
            </a:r>
            <a:endParaRPr lang="en-US" sz="1400" dirty="0"/>
          </a:p>
        </p:txBody>
      </p:sp>
      <p:sp>
        <p:nvSpPr>
          <p:cNvPr id="11" name="stack-3"/>
          <p:cNvSpPr/>
          <p:nvPr/>
        </p:nvSpPr>
        <p:spPr>
          <a:xfrm>
            <a:off x="5077846" y="1417320"/>
            <a:ext cx="2036003" cy="42062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16459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keys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514600"/>
            <a:ext cx="1633667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Postgres Flexible Server, separate servers per pool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Blob storage for encrypted documents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Managed HSM: one key per owner</a:t>
            </a:r>
            <a:endParaRPr lang="en-US" sz="1400" dirty="0"/>
          </a:p>
        </p:txBody>
      </p:sp>
      <p:sp>
        <p:nvSpPr>
          <p:cNvPr id="14" name="stack-4"/>
          <p:cNvSpPr/>
          <p:nvPr/>
        </p:nvSpPr>
        <p:spPr>
          <a:xfrm>
            <a:off x="7342449" y="1417320"/>
            <a:ext cx="2036003" cy="42062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43617" y="16459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and vendors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43617" y="2514600"/>
            <a:ext cx="1633667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Microsoft Entra External ID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Clickatell (SMS, SIM-swap), ACS Email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Paystack (web, marketplace), OpenAI via Azure</a:t>
            </a:r>
            <a:endParaRPr lang="en-US" sz="1400" dirty="0"/>
          </a:p>
        </p:txBody>
      </p:sp>
      <p:sp>
        <p:nvSpPr>
          <p:cNvPr id="17" name="stack-5"/>
          <p:cNvSpPr/>
          <p:nvPr/>
        </p:nvSpPr>
        <p:spPr>
          <a:xfrm>
            <a:off x="9607052" y="1417320"/>
            <a:ext cx="2036003" cy="42062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E4DE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08220" y="16459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808220" y="2514600"/>
            <a:ext cx="1633667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Terraform for every environment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GitHub Actions per client and service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31D"/>
                </a:solidFill>
              </a:rPr>
              <a:t>Dependabot, CodeQL, MobSF, Trivy, checkov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2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B373"/>
                </a:solidFill>
              </a:rPr>
              <a:t>NEXT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designed journeys to working ones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6F3EC"/>
                </a:solidFill>
              </a:rPr>
              <a:t>Approve step 2 (design system) and start step 3: backend, Terraform and CI/CD in Azure South Africa North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6F3EC"/>
                </a:solidFill>
              </a:rPr>
              <a:t>Step 4: Android journeys 1–6 first (Google Play and Huawei), then web, iOS and HarmonyOS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6F3EC"/>
                </a:solidFill>
              </a:rPr>
              <a:t>Supply content still marked [VERIFY]: will templates, question bank, tax tables, executor checklist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6F3EC"/>
                </a:solidFill>
              </a:rPr>
              <a:t>Decide how HarmonyOS gets built and tested: a CI build machine or hand-captured screens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C9BE"/>
                </a:solidFill>
              </a:rPr>
              <a:t>Lifa never gives legal, tax or financial advice, never e-signs wills and never acts for the executor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fa">
  <a:themeElements>
    <a:clrScheme name="Lifa">
      <a:dk1>
        <a:srgbClr val="17231D"/>
      </a:dk1>
      <a:lt1>
        <a:srgbClr val="FFFFFF"/>
      </a:lt1>
      <a:dk2>
        <a:srgbClr val="0B2E21"/>
      </a:dk2>
      <a:lt2>
        <a:srgbClr val="F6F3EC"/>
      </a:lt2>
      <a:accent1>
        <a:srgbClr val="11402F"/>
      </a:accent1>
      <a:accent2>
        <a:srgbClr val="D9B373"/>
      </a:accent2>
      <a:accent3>
        <a:srgbClr val="2E6B45"/>
      </a:accent3>
      <a:accent4>
        <a:srgbClr val="8A4F06"/>
      </a:accent4>
      <a:accent5>
        <a:srgbClr val="A23B2A"/>
      </a:accent5>
      <a:accent6>
        <a:srgbClr val="56625B"/>
      </a:accent6>
      <a:hlink>
        <a:srgbClr val="11402F"/>
      </a:hlink>
      <a:folHlink>
        <a:srgbClr val="56625B"/>
      </a:folHlink>
    </a:clrScheme>
    <a:fontScheme name="Lif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WZDRY (Pty)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Lifa on mobile, end to end</dc:title>
  <dc:subject>PptxGenJS Presentation</dc:subject>
  <dc:creator>Lifa build team</dc:creator>
  <cp:lastModifiedBy>Lifa build team</cp:lastModifiedBy>
  <cp:revision>1</cp:revision>
  <dcterms:created xsi:type="dcterms:W3CDTF">2026-10-20T14:04:57Z</dcterms:created>
  <dcterms:modified xsi:type="dcterms:W3CDTF">2026-10-20T14:04:57Z</dcterms:modified>
</cp:coreProperties>
</file>