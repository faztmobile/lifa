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ep 2 delivered" id="{140649a7-d234-a0ef-74bc-f26fca17fad7}">
          <p14:sldIdLst>
            <p14:sldId id="256"/>
            <p14:sldId id="257"/>
            <p14:sldId id="258"/>
            <p14:sldId id="259"/>
          </p14:sldIdLst>
        </p14:section>
        <p14:section name="Web · any browser" id="{649b7702-e731-6322-27b2-1023185c1806}">
          <p14:sldIdLst>
            <p14:sldId id="260"/>
            <p14:sldId id="261"/>
            <p14:sldId id="262"/>
            <p14:sldId id="263"/>
            <p14:sldId id="264"/>
            <p14:sldId id="265"/>
          </p14:sldIdLst>
        </p14:section>
        <p14:section name="iOS · App Store" id="{6ca9f4f4-e0b1-c73b-313a-509bd0f8d133}">
          <p14:sldIdLst>
            <p14:sldId id="266"/>
            <p14:sldId id="267"/>
            <p14:sldId id="268"/>
            <p14:sldId id="269"/>
            <p14:sldId id="270"/>
          </p14:sldIdLst>
        </p14:section>
        <p14:section name="Android · Google Play" id="{ceadd26a-d949-69b7-22ab-3134439f29ae}">
          <p14:sldIdLst>
            <p14:sldId id="271"/>
            <p14:sldId id="272"/>
            <p14:sldId id="273"/>
          </p14:sldIdLst>
        </p14:section>
        <p14:section name="Android · Huawei AppGallery" id="{4ea066f9-43eb-af1e-2f60-35ec66faf370}">
          <p14:sldIdLst>
            <p14:sldId id="274"/>
            <p14:sldId id="275"/>
            <p14:sldId id="276"/>
          </p14:sldIdLst>
        </p14:section>
        <p14:section name="HarmonyOS NEXT · Huawei AppGallery" id="{4e3952fe-989f-2cee-a969-27f5b1ede526}">
          <p14:sldIdLst>
            <p14:sldId id="277"/>
          </p14:sldIdLst>
        </p14:section>
        <p14:section name="Verification and next steps" id="{a9fcccac-36c2-dfb9-ef2d-09b3905d877a}">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turns the brand palette and type into one design system. Every screenshot in this deck is a real render: web from Chromium, Android from Robolectric and Roborazzi on GitHub Actions, iOS from the iPhone simulator on GitHub macOS runners.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anchor the review. The contrast figure is 39 colour pairings, each checked in light and dark mode. Four UI stacks cover five clients, because the Google Play and Huawei Android builds share one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is Style Dictionary 5.6.0 with small per-platform templates. Swatches, left to right: forest, primary, gold, leaf, cream, warning, critical. Leaf scores 3.8:1 and warning 4.4:1 on cream, so text uses darker leaf-text and warning-text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section per distribution follows. HarmonyOS is the honest gap: written but not yet compiled or rendered.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web gallery at phone width in light mode, top to bottom across this slide and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choices and navigation in light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screens with the phone in dark mode; the app follows prefers-color-scheme.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mode,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double text size the web gallery grows from 8 to 22 screens. Rows wrap and stack; nothing is cut off or scrolls sideways.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width in both modes. The back-office console shares these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SwiftUI app itself, launched by the UI tests on the iPhone simulator, scrolled top to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choices and navigation in light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screens in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mode,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captures at this size broke words in buttons, quick actions, share fields and the tab bar. Now the rows stack, quick actions become rows, fields widen and the tab bar shows icons with the Large Content Viewer, as the system tab bar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Launched from the Google Play flavour itself; the header reads Android, Google Play. Play Billing and Firebase push are bound into this flavour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picker is on System; the phone is in night mode and the app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Captured from the shared design module, which both Android builds use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Huawei flavour for phones running Android with HMS. CI checks this build contains no Google Play services or Firebase.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UI to Google Play by design; only billing and push providers differ, and those arrive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images as the Google Play section: large-text behaviour lives in the shared design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distribution with no evidence yet. The code mirrors the other clients, but until it compiles we should not claim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Android and iOS are all green in CI. One check is deliberately excluded: the runtime Dynamic Type audit at the default size flags a different element each run with no truncation visible, so Dynamic Type is audited with the app launched at the largest size instead. This is recorded in design/README.md for a device check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decisions needed. Step 3 builds the services behind the 210 public API operations already specified, in the South Africa North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RIP_LIGHT">
    <p:bg>
      <p:bgPr>
        <a:solidFill>
          <a:srgbClr val="E9E4D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rtlCol="0"/>
          <a:lstStyle>
            <a:lvl1pPr algn="l" indent="0" marL="0">
              <a:buNone/>
              <a:defRPr lang="en-US" sz="1200" b="1" spc="200" kern="0" dirty="0">
                <a:solidFill>
                  <a:srgbClr val="7A5A1E"/>
                </a:solidFill>
              </a:defRPr>
            </a:lvl1pPr>
          </a:lstStyle>
          <a:p>
            <a:pPr algn="l" indent="0" marL="0">
              <a:buNone/>
            </a:pP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rtlCol="0"/>
          <a:lstStyle>
            <a:lvl1pPr algn="l" indent="0" marL="0">
              <a:buNone/>
              <a:defRPr lang="en-US" sz="3000" b="1" dirty="0">
                <a:solidFill>
                  <a:srgbClr val="0B2E2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rtlCol="0"/>
          <a:lstStyle>
            <a:lvl1pPr algn="l" indent="0" marL="0">
              <a:buNone/>
              <a:defRPr lang="en-US" sz="1000" dirty="0">
                <a:solidFill>
                  <a:srgbClr val="56625B"/>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RIP_DARK">
    <p:bg>
      <p:bgPr>
        <a:solidFill>
          <a:srgbClr val="0B2E2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rtlCol="0"/>
          <a:lstStyle>
            <a:lvl1pPr algn="l" indent="0" marL="0">
              <a:buNone/>
              <a:defRPr lang="en-US" sz="1200" b="1" spc="200" kern="0" dirty="0">
                <a:solidFill>
                  <a:srgbClr val="D9B373"/>
                </a:solidFill>
              </a:defRPr>
            </a:lvl1pPr>
          </a:lstStyle>
          <a:p>
            <a:pPr algn="l" indent="0" marL="0">
              <a:buNone/>
            </a:pP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rtlCol="0"/>
          <a:lstStyle>
            <a:lvl1pPr algn="l" indent="0" marL="0">
              <a:buNone/>
              <a:defRPr lang="en-US" sz="3000" b="1" dirty="0">
                <a:solidFill>
                  <a:srgbClr val="F6F3EC"/>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rtlCol="0"/>
          <a:lstStyle>
            <a:lvl1pPr algn="l" indent="0" marL="0">
              <a:buNone/>
              <a:defRPr lang="en-US" sz="1000" dirty="0">
                <a:solidFill>
                  <a:srgbClr val="B7C9BE"/>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3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rgbClr val="0B2E2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p:nvPr>
            <p:ph idx="101" type="body" hasCustomPrompt="1"/>
          </p:nvPr>
        </p:nvSpPr>
        <p:spPr>
          <a:xfrm>
            <a:off x="548640" y="6355080"/>
            <a:ext cx="10545775" cy="320040"/>
          </a:xfrm>
          <a:prstGeom prst="rect">
            <a:avLst/>
          </a:prstGeom>
          <a:noFill/>
          <a:ln/>
        </p:spPr>
        <p:txBody>
          <a:bodyPr wrap="square" rtlCol="0"/>
          <a:lstStyle>
            <a:lvl1pPr algn="l" indent="0" marL="0">
              <a:buNone/>
              <a:defRPr lang="en-US" sz="1000" dirty="0">
                <a:solidFill>
                  <a:srgbClr val="56625B"/>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0B2E2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con" descr="Lifa app icon: two leaves above the word Lifa on a dark green tile">    </p:cNvPr>
          <p:cNvPicPr>
            <a:picLocks noChangeAspect="1"/>
          </p:cNvPicPr>
          <p:nvPr/>
        </p:nvPicPr>
        <p:blipFill>
          <a:blip r:embed="rId1"/>
          <a:stretch>
            <a:fillRect/>
          </a:stretch>
        </p:blipFill>
        <p:spPr>
          <a:xfrm>
            <a:off x="640080" y="1097280"/>
            <a:ext cx="1371600" cy="1371600"/>
          </a:xfrm>
          <a:prstGeom prst="rect">
            <a:avLst/>
          </a:prstGeom>
        </p:spPr>
      </p:pic>
      <p:sp>
        <p:nvSpPr>
          <p:cNvPr id="3" name="Text 0"/>
          <p:cNvSpPr txBox="1"/>
          <p:nvPr/>
        </p:nvSpPr>
        <p:spPr>
          <a:xfrm>
            <a:off x="640080" y="2743200"/>
            <a:ext cx="7315200" cy="320040"/>
          </a:xfrm>
          <a:prstGeom prst="rect">
            <a:avLst/>
          </a:prstGeom>
          <a:noFill/>
          <a:ln/>
        </p:spPr>
        <p:txBody>
          <a:bodyPr wrap="square" lIns="0" tIns="0" rIns="0" bIns="0" rtlCol="0" anchor="t"/>
          <a:lstStyle/>
          <a:p>
            <a:pPr indent="0" marL="0">
              <a:buNone/>
            </a:pPr>
            <a:r>
              <a:rPr lang="en-US" sz="1400" b="1" spc="300" kern="0" dirty="0">
                <a:solidFill>
                  <a:srgbClr val="D9B373"/>
                </a:solidFill>
              </a:rPr>
              <a:t>STEP 2 · DESIGN SYSTEM</a:t>
            </a:r>
            <a:endParaRPr lang="en-US" sz="1400" dirty="0"/>
          </a:p>
        </p:txBody>
      </p:sp>
      <p:sp>
        <p:nvSpPr>
          <p:cNvPr id="4" name="Text 1"/>
          <p:cNvSpPr txBox="1"/>
          <p:nvPr/>
        </p:nvSpPr>
        <p:spPr>
          <a:xfrm>
            <a:off x="640080" y="3108960"/>
            <a:ext cx="10058400" cy="1005840"/>
          </a:xfrm>
          <a:prstGeom prst="rect">
            <a:avLst/>
          </a:prstGeom>
          <a:noFill/>
          <a:ln/>
        </p:spPr>
        <p:txBody>
          <a:bodyPr wrap="square" lIns="0" tIns="0" rIns="0" bIns="0" rtlCol="0" anchor="t"/>
          <a:lstStyle/>
          <a:p>
            <a:pPr indent="0" marL="0">
              <a:buNone/>
            </a:pPr>
            <a:r>
              <a:rPr lang="en-US" sz="5400" b="1" dirty="0">
                <a:solidFill>
                  <a:srgbClr val="F6F3EC"/>
                </a:solidFill>
                <a:latin typeface="Arial" pitchFamily="34" charset="0"/>
                <a:ea typeface="Arial" pitchFamily="34" charset="-122"/>
                <a:cs typeface="Arial" pitchFamily="34" charset="-120"/>
              </a:rPr>
              <a:t>One Lifa, every screen</a:t>
            </a:r>
            <a:endParaRPr lang="en-US" sz="5400" dirty="0"/>
          </a:p>
        </p:txBody>
      </p:sp>
      <p:sp>
        <p:nvSpPr>
          <p:cNvPr id="5" name="Text 2"/>
          <p:cNvSpPr txBox="1"/>
          <p:nvPr/>
        </p:nvSpPr>
        <p:spPr>
          <a:xfrm>
            <a:off x="640080" y="4206240"/>
            <a:ext cx="8686800" cy="822960"/>
          </a:xfrm>
          <a:prstGeom prst="rect">
            <a:avLst/>
          </a:prstGeom>
          <a:noFill/>
          <a:ln/>
        </p:spPr>
        <p:txBody>
          <a:bodyPr wrap="square" lIns="0" tIns="0" rIns="0" bIns="0" rtlCol="0" anchor="t"/>
          <a:lstStyle/>
          <a:p>
            <a:pPr indent="0" marL="0">
              <a:buNone/>
            </a:pPr>
            <a:r>
              <a:rPr lang="en-US" sz="1800" dirty="0">
                <a:solidFill>
                  <a:srgbClr val="B7C9BE"/>
                </a:solidFill>
              </a:rPr>
              <a:t>The same tokens, components and gallery on web, iOS and Android (Google Play and Huawei), with HarmonyOS built from the same source.</a:t>
            </a:r>
            <a:endParaRPr lang="en-US" sz="1800" dirty="0"/>
          </a:p>
        </p:txBody>
      </p:sp>
      <p:sp>
        <p:nvSpPr>
          <p:cNvPr id="6" name="Text 3"/>
          <p:cNvSpPr txBox="1"/>
          <p:nvPr/>
        </p:nvSpPr>
        <p:spPr>
          <a:xfrm>
            <a:off x="640080" y="6263640"/>
            <a:ext cx="7315200" cy="274320"/>
          </a:xfrm>
          <a:prstGeom prst="rect">
            <a:avLst/>
          </a:prstGeom>
          <a:noFill/>
          <a:ln/>
        </p:spPr>
        <p:txBody>
          <a:bodyPr wrap="square" lIns="0" tIns="0" rIns="0" bIns="0" rtlCol="0" anchor="t"/>
          <a:lstStyle/>
          <a:p>
            <a:pPr indent="0" marL="0">
              <a:buNone/>
            </a:pPr>
            <a:r>
              <a:rPr lang="en-US" sz="1100" dirty="0">
                <a:solidFill>
                  <a:srgbClr val="B7C9BE"/>
                </a:solidFill>
              </a:rPr>
              <a:t>WZDRY (Pty) Ltd · Build review,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rgbClr val="0B2E21"/>
                </a:solidFill>
                <a:latin typeface="Arial" pitchFamily="34" charset="0"/>
                <a:ea typeface="Arial" pitchFamily="34" charset="-122"/>
                <a:cs typeface="Arial" pitchFamily="34" charset="-120"/>
              </a:rPr>
              <a:t>What step 2 built</a:t>
            </a:r>
            <a:endParaRPr lang="en-US" sz="3600" dirty="0"/>
          </a:p>
        </p:txBody>
      </p:sp>
      <p:sp>
        <p:nvSpPr>
          <p:cNvPr id="3" name="Text 0"/>
          <p:cNvSpPr/>
          <p:nvPr>
            <p:ph idx="101" type="body" hasCustomPrompt="1"/>
          </p:nvPr>
        </p:nvSpPr>
        <p:spPr>
          <a:xfrm>
            <a:off x="548640" y="6355080"/>
            <a:ext cx="10545775" cy="320040"/>
          </a:xfrm>
          <a:prstGeom prst="rect">
            <a:avLst/>
          </a:prstGeom>
          <a:noFill/>
          <a:ln/>
        </p:spPr>
        <p:txBody>
          <a:bodyPr wrap="square" lIns="0" tIns="0" rIns="0" bIns="0" rtlCol="0" anchor="t"/>
          <a:lstStyle/>
          <a:p>
            <a:pPr algn="l" indent="0" marL="0">
              <a:buNone/>
            </a:pPr>
            <a:r>
              <a:rPr lang="en-US" sz="1000" dirty="0">
                <a:solidFill>
                  <a:srgbClr val="56625B"/>
                </a:solidFill>
              </a:rPr>
              <a:t>Source: design/tokens/tokens.json · contrast checked by design/generators/contrast.mjs</a:t>
            </a:r>
            <a:endParaRPr lang="en-US" sz="1000" dirty="0"/>
          </a:p>
        </p:txBody>
      </p:sp>
      <p:sp>
        <p:nvSpPr>
          <p:cNvPr id="4" name="stat-card-1"/>
          <p:cNvSpPr/>
          <p:nvPr/>
        </p:nvSpPr>
        <p:spPr>
          <a:xfrm>
            <a:off x="548640" y="1645920"/>
            <a:ext cx="2567864" cy="2194560"/>
          </a:xfrm>
          <a:prstGeom prst="roundRect">
            <a:avLst>
              <a:gd name="adj" fmla="val 6250"/>
            </a:avLst>
          </a:prstGeom>
          <a:solidFill>
            <a:srgbClr val="FFFFFF"/>
          </a:solidFill>
          <a:ln w="12700">
            <a:solidFill>
              <a:srgbClr val="E4DED1"/>
            </a:solidFill>
            <a:prstDash val="solid"/>
          </a:ln>
        </p:spPr>
      </p:sp>
      <p:sp>
        <p:nvSpPr>
          <p:cNvPr id="5" name="Text 3"/>
          <p:cNvSpPr txBox="1"/>
          <p:nvPr/>
        </p:nvSpPr>
        <p:spPr>
          <a:xfrm>
            <a:off x="822960" y="1874520"/>
            <a:ext cx="2019224" cy="914400"/>
          </a:xfrm>
          <a:prstGeom prst="rect">
            <a:avLst/>
          </a:prstGeom>
          <a:noFill/>
          <a:ln/>
        </p:spPr>
        <p:txBody>
          <a:bodyPr wrap="square" lIns="0" tIns="0" rIns="0" bIns="0" rtlCol="0" anchor="t"/>
          <a:lstStyle/>
          <a:p>
            <a:pPr indent="0" marL="0">
              <a:buNone/>
            </a:pPr>
            <a:r>
              <a:rPr lang="en-US" sz="4800" b="1" dirty="0">
                <a:solidFill>
                  <a:srgbClr val="11402F"/>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822960" y="2834640"/>
            <a:ext cx="2019224" cy="822960"/>
          </a:xfrm>
          <a:prstGeom prst="rect">
            <a:avLst/>
          </a:prstGeom>
          <a:noFill/>
          <a:ln/>
        </p:spPr>
        <p:txBody>
          <a:bodyPr wrap="square" lIns="0" tIns="0" rIns="0" bIns="0" rtlCol="0" anchor="t"/>
          <a:lstStyle/>
          <a:p>
            <a:pPr indent="0" marL="0">
              <a:buNone/>
            </a:pPr>
            <a:r>
              <a:rPr lang="en-US" sz="1500" dirty="0">
                <a:solidFill>
                  <a:srgbClr val="56625B"/>
                </a:solidFill>
              </a:rPr>
              <a:t>token file feeds every client</a:t>
            </a:r>
            <a:endParaRPr lang="en-US" sz="1500" dirty="0"/>
          </a:p>
        </p:txBody>
      </p:sp>
      <p:sp>
        <p:nvSpPr>
          <p:cNvPr id="7" name="stat-card-2"/>
          <p:cNvSpPr/>
          <p:nvPr/>
        </p:nvSpPr>
        <p:spPr>
          <a:xfrm>
            <a:off x="3390824" y="1645920"/>
            <a:ext cx="2567864" cy="2194560"/>
          </a:xfrm>
          <a:prstGeom prst="roundRect">
            <a:avLst>
              <a:gd name="adj" fmla="val 6250"/>
            </a:avLst>
          </a:prstGeom>
          <a:solidFill>
            <a:srgbClr val="FFFFFF"/>
          </a:solidFill>
          <a:ln w="12700">
            <a:solidFill>
              <a:srgbClr val="E4DED1"/>
            </a:solidFill>
            <a:prstDash val="solid"/>
          </a:ln>
        </p:spPr>
      </p:sp>
      <p:sp>
        <p:nvSpPr>
          <p:cNvPr id="8" name="Text 6"/>
          <p:cNvSpPr txBox="1"/>
          <p:nvPr/>
        </p:nvSpPr>
        <p:spPr>
          <a:xfrm>
            <a:off x="3665144" y="1874520"/>
            <a:ext cx="2019224" cy="914400"/>
          </a:xfrm>
          <a:prstGeom prst="rect">
            <a:avLst/>
          </a:prstGeom>
          <a:noFill/>
          <a:ln/>
        </p:spPr>
        <p:txBody>
          <a:bodyPr wrap="square" lIns="0" tIns="0" rIns="0" bIns="0" rtlCol="0" anchor="t"/>
          <a:lstStyle/>
          <a:p>
            <a:pPr indent="0" marL="0">
              <a:buNone/>
            </a:pPr>
            <a:r>
              <a:rPr lang="en-US" sz="4800" b="1" dirty="0">
                <a:solidFill>
                  <a:srgbClr val="11402F"/>
                </a:solidFill>
                <a:latin typeface="Arial" pitchFamily="34" charset="0"/>
                <a:ea typeface="Arial" pitchFamily="34" charset="-122"/>
                <a:cs typeface="Arial" pitchFamily="34" charset="-120"/>
              </a:rPr>
              <a:t>34</a:t>
            </a:r>
            <a:endParaRPr lang="en-US" sz="4800" dirty="0"/>
          </a:p>
        </p:txBody>
      </p:sp>
      <p:sp>
        <p:nvSpPr>
          <p:cNvPr id="9" name="Text 7"/>
          <p:cNvSpPr txBox="1"/>
          <p:nvPr/>
        </p:nvSpPr>
        <p:spPr>
          <a:xfrm>
            <a:off x="3665144" y="2834640"/>
            <a:ext cx="2019224" cy="822960"/>
          </a:xfrm>
          <a:prstGeom prst="rect">
            <a:avLst/>
          </a:prstGeom>
          <a:noFill/>
          <a:ln/>
        </p:spPr>
        <p:txBody>
          <a:bodyPr wrap="square" lIns="0" tIns="0" rIns="0" bIns="0" rtlCol="0" anchor="t"/>
          <a:lstStyle/>
          <a:p>
            <a:pPr indent="0" marL="0">
              <a:buNone/>
            </a:pPr>
            <a:r>
              <a:rPr lang="en-US" sz="1500" dirty="0">
                <a:solidFill>
                  <a:srgbClr val="56625B"/>
                </a:solidFill>
              </a:rPr>
              <a:t>colours, each with a light and a dark value</a:t>
            </a:r>
            <a:endParaRPr lang="en-US" sz="1500" dirty="0"/>
          </a:p>
        </p:txBody>
      </p:sp>
      <p:sp>
        <p:nvSpPr>
          <p:cNvPr id="10" name="stat-card-3"/>
          <p:cNvSpPr/>
          <p:nvPr/>
        </p:nvSpPr>
        <p:spPr>
          <a:xfrm>
            <a:off x="6233008" y="1645920"/>
            <a:ext cx="2567864" cy="2194560"/>
          </a:xfrm>
          <a:prstGeom prst="roundRect">
            <a:avLst>
              <a:gd name="adj" fmla="val 6250"/>
            </a:avLst>
          </a:prstGeom>
          <a:solidFill>
            <a:srgbClr val="FFFFFF"/>
          </a:solidFill>
          <a:ln w="12700">
            <a:solidFill>
              <a:srgbClr val="E4DED1"/>
            </a:solidFill>
            <a:prstDash val="solid"/>
          </a:ln>
        </p:spPr>
      </p:sp>
      <p:sp>
        <p:nvSpPr>
          <p:cNvPr id="11" name="Text 9"/>
          <p:cNvSpPr txBox="1"/>
          <p:nvPr/>
        </p:nvSpPr>
        <p:spPr>
          <a:xfrm>
            <a:off x="6507328" y="1874520"/>
            <a:ext cx="2019224" cy="914400"/>
          </a:xfrm>
          <a:prstGeom prst="rect">
            <a:avLst/>
          </a:prstGeom>
          <a:noFill/>
          <a:ln/>
        </p:spPr>
        <p:txBody>
          <a:bodyPr wrap="square" lIns="0" tIns="0" rIns="0" bIns="0" rtlCol="0" anchor="t"/>
          <a:lstStyle/>
          <a:p>
            <a:pPr indent="0" marL="0">
              <a:buNone/>
            </a:pPr>
            <a:r>
              <a:rPr lang="en-US" sz="4800" b="1" dirty="0">
                <a:solidFill>
                  <a:srgbClr val="11402F"/>
                </a:solidFill>
                <a:latin typeface="Arial" pitchFamily="34" charset="0"/>
                <a:ea typeface="Arial" pitchFamily="34" charset="-122"/>
                <a:cs typeface="Arial" pitchFamily="34" charset="-120"/>
              </a:rPr>
              <a:t>22</a:t>
            </a:r>
            <a:endParaRPr lang="en-US" sz="4800" dirty="0"/>
          </a:p>
        </p:txBody>
      </p:sp>
      <p:sp>
        <p:nvSpPr>
          <p:cNvPr id="12" name="Text 10"/>
          <p:cNvSpPr txBox="1"/>
          <p:nvPr/>
        </p:nvSpPr>
        <p:spPr>
          <a:xfrm>
            <a:off x="6507328" y="2834640"/>
            <a:ext cx="2019224" cy="822960"/>
          </a:xfrm>
          <a:prstGeom prst="rect">
            <a:avLst/>
          </a:prstGeom>
          <a:noFill/>
          <a:ln/>
        </p:spPr>
        <p:txBody>
          <a:bodyPr wrap="square" lIns="0" tIns="0" rIns="0" bIns="0" rtlCol="0" anchor="t"/>
          <a:lstStyle/>
          <a:p>
            <a:pPr indent="0" marL="0">
              <a:buNone/>
            </a:pPr>
            <a:r>
              <a:rPr lang="en-US" sz="1500" dirty="0">
                <a:solidFill>
                  <a:srgbClr val="56625B"/>
                </a:solidFill>
              </a:rPr>
              <a:t>components, the same on all four UI stacks</a:t>
            </a:r>
            <a:endParaRPr lang="en-US" sz="1500" dirty="0"/>
          </a:p>
        </p:txBody>
      </p:sp>
      <p:sp>
        <p:nvSpPr>
          <p:cNvPr id="13" name="stat-card-4"/>
          <p:cNvSpPr/>
          <p:nvPr/>
        </p:nvSpPr>
        <p:spPr>
          <a:xfrm>
            <a:off x="9075191" y="1645920"/>
            <a:ext cx="2567864" cy="2194560"/>
          </a:xfrm>
          <a:prstGeom prst="roundRect">
            <a:avLst>
              <a:gd name="adj" fmla="val 6250"/>
            </a:avLst>
          </a:prstGeom>
          <a:solidFill>
            <a:srgbClr val="0B2E21"/>
          </a:solidFill>
          <a:ln w="12700">
            <a:solidFill>
              <a:srgbClr val="0B2E21"/>
            </a:solidFill>
            <a:prstDash val="solid"/>
          </a:ln>
        </p:spPr>
      </p:sp>
      <p:sp>
        <p:nvSpPr>
          <p:cNvPr id="14" name="Text 12"/>
          <p:cNvSpPr txBox="1"/>
          <p:nvPr/>
        </p:nvSpPr>
        <p:spPr>
          <a:xfrm>
            <a:off x="9349511" y="1874520"/>
            <a:ext cx="2019224" cy="914400"/>
          </a:xfrm>
          <a:prstGeom prst="rect">
            <a:avLst/>
          </a:prstGeom>
          <a:noFill/>
          <a:ln/>
        </p:spPr>
        <p:txBody>
          <a:bodyPr wrap="square" lIns="0" tIns="0" rIns="0" bIns="0" rtlCol="0" anchor="t"/>
          <a:lstStyle/>
          <a:p>
            <a:pPr indent="0" marL="0">
              <a:buNone/>
            </a:pPr>
            <a:r>
              <a:rPr lang="en-US" sz="4800" b="1" dirty="0">
                <a:solidFill>
                  <a:srgbClr val="D9B373"/>
                </a:solidFill>
                <a:latin typeface="Arial" pitchFamily="34" charset="0"/>
                <a:ea typeface="Arial" pitchFamily="34" charset="-122"/>
                <a:cs typeface="Arial" pitchFamily="34" charset="-120"/>
              </a:rPr>
              <a:t>78/78</a:t>
            </a:r>
            <a:endParaRPr lang="en-US" sz="4800" dirty="0"/>
          </a:p>
        </p:txBody>
      </p:sp>
      <p:sp>
        <p:nvSpPr>
          <p:cNvPr id="15" name="Text 13"/>
          <p:cNvSpPr txBox="1"/>
          <p:nvPr/>
        </p:nvSpPr>
        <p:spPr>
          <a:xfrm>
            <a:off x="9349511" y="2834640"/>
            <a:ext cx="2019224" cy="822960"/>
          </a:xfrm>
          <a:prstGeom prst="rect">
            <a:avLst/>
          </a:prstGeom>
          <a:noFill/>
          <a:ln/>
        </p:spPr>
        <p:txBody>
          <a:bodyPr wrap="square" lIns="0" tIns="0" rIns="0" bIns="0" rtlCol="0" anchor="t"/>
          <a:lstStyle/>
          <a:p>
            <a:pPr indent="0" marL="0">
              <a:buNone/>
            </a:pPr>
            <a:r>
              <a:rPr lang="en-US" sz="1500" dirty="0">
                <a:solidFill>
                  <a:srgbClr val="B7C9BE"/>
                </a:solidFill>
              </a:rPr>
              <a:t>colour pairings pass WCAG contrast</a:t>
            </a:r>
            <a:endParaRPr lang="en-US" sz="1500" dirty="0"/>
          </a:p>
        </p:txBody>
      </p:sp>
      <p:sp>
        <p:nvSpPr>
          <p:cNvPr id="16" name="Text 14"/>
          <p:cNvSpPr txBox="1"/>
          <p:nvPr/>
        </p:nvSpPr>
        <p:spPr>
          <a:xfrm>
            <a:off x="548640" y="4206240"/>
            <a:ext cx="10058400" cy="822960"/>
          </a:xfrm>
          <a:prstGeom prst="rect">
            <a:avLst/>
          </a:prstGeom>
          <a:noFill/>
          <a:ln/>
        </p:spPr>
        <p:txBody>
          <a:bodyPr wrap="square" lIns="0" tIns="0" rIns="0" bIns="0" rtlCol="0" anchor="t"/>
          <a:lstStyle/>
          <a:p>
            <a:pPr indent="0" marL="0">
              <a:buNone/>
            </a:pPr>
            <a:r>
              <a:rPr lang="en-US" sz="1800" dirty="0">
                <a:solidFill>
                  <a:srgbClr val="17231D"/>
                </a:solidFill>
              </a:rPr>
              <a:t>Plus the type scale, 24 shared icons, radius 10 / 14 / 18 / 24, a 4-point spacing scale and 44 pt touch targets (48 dp on Android), all generated from one source.</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rgbClr val="0B2E21"/>
                </a:solidFill>
                <a:latin typeface="Arial" pitchFamily="34" charset="0"/>
                <a:ea typeface="Arial" pitchFamily="34" charset="-122"/>
                <a:cs typeface="Arial" pitchFamily="34" charset="-120"/>
              </a:rPr>
              <a:t>One source, four generated themes</a:t>
            </a:r>
            <a:endParaRPr lang="en-US" sz="3600" dirty="0"/>
          </a:p>
        </p:txBody>
      </p:sp>
      <p:sp>
        <p:nvSpPr>
          <p:cNvPr id="3" name="Text 0"/>
          <p:cNvSpPr/>
          <p:nvPr>
            <p:ph idx="101" type="body" hasCustomPrompt="1"/>
          </p:nvPr>
        </p:nvSpPr>
        <p:spPr>
          <a:xfrm>
            <a:off x="548640" y="6355080"/>
            <a:ext cx="10545775" cy="320040"/>
          </a:xfrm>
          <a:prstGeom prst="rect">
            <a:avLst/>
          </a:prstGeom>
          <a:noFill/>
          <a:ln/>
        </p:spPr>
        <p:txBody>
          <a:bodyPr wrap="square" lIns="0" tIns="0" rIns="0" bIns="0" rtlCol="0" anchor="t"/>
          <a:lstStyle/>
          <a:p>
            <a:pPr algn="l" indent="0" marL="0">
              <a:buNone/>
            </a:pPr>
            <a:r>
              <a:rPr lang="en-US" sz="1000" dirty="0">
                <a:solidFill>
                  <a:srgbClr val="56625B"/>
                </a:solidFill>
              </a:rPr>
              <a:t>CI fails if a generated file drifts from the tokens, or if any pairing drops below its contrast minimum</a:t>
            </a:r>
            <a:endParaRPr lang="en-US" sz="1000" dirty="0"/>
          </a:p>
        </p:txBody>
      </p:sp>
      <p:sp>
        <p:nvSpPr>
          <p:cNvPr id="4" name="source-card"/>
          <p:cNvSpPr/>
          <p:nvPr/>
        </p:nvSpPr>
        <p:spPr>
          <a:xfrm>
            <a:off x="548640" y="1645920"/>
            <a:ext cx="3108960" cy="2377440"/>
          </a:xfrm>
          <a:prstGeom prst="roundRect">
            <a:avLst>
              <a:gd name="adj" fmla="val 7692"/>
            </a:avLst>
          </a:prstGeom>
          <a:solidFill>
            <a:srgbClr val="0B2E21"/>
          </a:solidFill>
          <a:ln/>
        </p:spPr>
      </p:sp>
      <p:sp>
        <p:nvSpPr>
          <p:cNvPr id="5" name="Text 3"/>
          <p:cNvSpPr txBox="1"/>
          <p:nvPr/>
        </p:nvSpPr>
        <p:spPr>
          <a:xfrm>
            <a:off x="868680" y="1920240"/>
            <a:ext cx="2560320" cy="457200"/>
          </a:xfrm>
          <a:prstGeom prst="rect">
            <a:avLst/>
          </a:prstGeom>
          <a:noFill/>
          <a:ln/>
        </p:spPr>
        <p:txBody>
          <a:bodyPr wrap="square" lIns="0" tIns="0" rIns="0" bIns="0" rtlCol="0" anchor="t"/>
          <a:lstStyle/>
          <a:p>
            <a:pPr indent="0" marL="0">
              <a:buNone/>
            </a:pPr>
            <a:r>
              <a:rPr lang="en-US" sz="2400" b="1" dirty="0">
                <a:solidFill>
                  <a:srgbClr val="F6F3EC"/>
                </a:solidFill>
                <a:latin typeface="Arial" pitchFamily="34" charset="0"/>
                <a:ea typeface="Arial" pitchFamily="34" charset="-122"/>
                <a:cs typeface="Arial" pitchFamily="34" charset="-120"/>
              </a:rPr>
              <a:t>tokens.json</a:t>
            </a:r>
            <a:endParaRPr lang="en-US" sz="2400" dirty="0"/>
          </a:p>
        </p:txBody>
      </p:sp>
      <p:sp>
        <p:nvSpPr>
          <p:cNvPr id="6" name="Text 4"/>
          <p:cNvSpPr txBox="1"/>
          <p:nvPr/>
        </p:nvSpPr>
        <p:spPr>
          <a:xfrm>
            <a:off x="868680" y="2468880"/>
            <a:ext cx="2560320" cy="1280160"/>
          </a:xfrm>
          <a:prstGeom prst="rect">
            <a:avLst/>
          </a:prstGeom>
          <a:noFill/>
          <a:ln/>
        </p:spPr>
        <p:txBody>
          <a:bodyPr wrap="square" lIns="0" tIns="0" rIns="0" bIns="0" rtlCol="0" anchor="t"/>
          <a:lstStyle/>
          <a:p>
            <a:pPr indent="0" marL="0">
              <a:buNone/>
            </a:pPr>
            <a:r>
              <a:rPr lang="en-US" sz="1400" dirty="0">
                <a:solidFill>
                  <a:srgbClr val="B7C9BE"/>
                </a:solidFill>
              </a:rPr>
              <a:t>Colours, type, radius, spacing, sizes and motion. Contrast-tested before anything is generated.</a:t>
            </a:r>
            <a:endParaRPr lang="en-US" sz="1400" dirty="0"/>
          </a:p>
        </p:txBody>
      </p:sp>
      <p:sp>
        <p:nvSpPr>
          <p:cNvPr id="7" name="arrow"/>
          <p:cNvSpPr/>
          <p:nvPr/>
        </p:nvSpPr>
        <p:spPr>
          <a:xfrm>
            <a:off x="3931920" y="2606040"/>
            <a:ext cx="822960" cy="457200"/>
          </a:xfrm>
          <a:prstGeom prst="rightArrow">
            <a:avLst/>
          </a:prstGeom>
          <a:solidFill>
            <a:srgbClr val="D9B373"/>
          </a:solidFill>
          <a:ln w="12700">
            <a:solidFill>
              <a:srgbClr val="D9B373"/>
            </a:solidFill>
            <a:prstDash val="solid"/>
          </a:ln>
        </p:spPr>
      </p:sp>
      <p:sp>
        <p:nvSpPr>
          <p:cNvPr id="8" name="output-1"/>
          <p:cNvSpPr/>
          <p:nvPr/>
        </p:nvSpPr>
        <p:spPr>
          <a:xfrm>
            <a:off x="4983480" y="1645920"/>
            <a:ext cx="3154680" cy="1051560"/>
          </a:xfrm>
          <a:prstGeom prst="roundRect">
            <a:avLst>
              <a:gd name="adj" fmla="val 10435"/>
            </a:avLst>
          </a:prstGeom>
          <a:solidFill>
            <a:srgbClr val="FFFFFF"/>
          </a:solidFill>
          <a:ln w="12700">
            <a:solidFill>
              <a:srgbClr val="E4DED1"/>
            </a:solidFill>
            <a:prstDash val="solid"/>
          </a:ln>
        </p:spPr>
      </p:sp>
      <p:sp>
        <p:nvSpPr>
          <p:cNvPr id="9" name="Text 7"/>
          <p:cNvSpPr txBox="1"/>
          <p:nvPr/>
        </p:nvSpPr>
        <p:spPr>
          <a:xfrm>
            <a:off x="5212080" y="1810512"/>
            <a:ext cx="2743200" cy="365760"/>
          </a:xfrm>
          <a:prstGeom prst="rect">
            <a:avLst/>
          </a:prstGeom>
          <a:noFill/>
          <a:ln/>
        </p:spPr>
        <p:txBody>
          <a:bodyPr wrap="square" lIns="0" tIns="0" rIns="0" bIns="0" rtlCol="0" anchor="t"/>
          <a:lstStyle/>
          <a:p>
            <a:pPr indent="0" marL="0">
              <a:buNone/>
            </a:pPr>
            <a:r>
              <a:rPr lang="en-US" sz="1800" b="1" dirty="0">
                <a:solidFill>
                  <a:srgbClr val="11402F"/>
                </a:solidFill>
                <a:latin typeface="Arial" pitchFamily="34" charset="0"/>
                <a:ea typeface="Arial" pitchFamily="34" charset="-122"/>
                <a:cs typeface="Arial" pitchFamily="34" charset="-120"/>
              </a:rPr>
              <a:t>Compose</a:t>
            </a:r>
            <a:endParaRPr lang="en-US" sz="1800" dirty="0"/>
          </a:p>
        </p:txBody>
      </p:sp>
      <p:sp>
        <p:nvSpPr>
          <p:cNvPr id="10" name="Text 8"/>
          <p:cNvSpPr txBox="1"/>
          <p:nvPr/>
        </p:nvSpPr>
        <p:spPr>
          <a:xfrm>
            <a:off x="5212080" y="2194560"/>
            <a:ext cx="2743200" cy="365760"/>
          </a:xfrm>
          <a:prstGeom prst="rect">
            <a:avLst/>
          </a:prstGeom>
          <a:noFill/>
          <a:ln/>
        </p:spPr>
        <p:txBody>
          <a:bodyPr wrap="square" lIns="0" tIns="0" rIns="0" bIns="0" rtlCol="0" anchor="t"/>
          <a:lstStyle/>
          <a:p>
            <a:pPr indent="0" marL="0">
              <a:buNone/>
            </a:pPr>
            <a:r>
              <a:rPr lang="en-US" sz="1300" dirty="0">
                <a:solidFill>
                  <a:srgbClr val="56625B"/>
                </a:solidFill>
              </a:rPr>
              <a:t>Android, Google Play and Huawei</a:t>
            </a:r>
            <a:endParaRPr lang="en-US" sz="1300" dirty="0"/>
          </a:p>
        </p:txBody>
      </p:sp>
      <p:sp>
        <p:nvSpPr>
          <p:cNvPr id="11" name="output-2"/>
          <p:cNvSpPr/>
          <p:nvPr/>
        </p:nvSpPr>
        <p:spPr>
          <a:xfrm>
            <a:off x="8366760" y="1645920"/>
            <a:ext cx="3154680" cy="1051560"/>
          </a:xfrm>
          <a:prstGeom prst="roundRect">
            <a:avLst>
              <a:gd name="adj" fmla="val 10435"/>
            </a:avLst>
          </a:prstGeom>
          <a:solidFill>
            <a:srgbClr val="FFFFFF"/>
          </a:solidFill>
          <a:ln w="12700">
            <a:solidFill>
              <a:srgbClr val="E4DED1"/>
            </a:solidFill>
            <a:prstDash val="solid"/>
          </a:ln>
        </p:spPr>
      </p:sp>
      <p:sp>
        <p:nvSpPr>
          <p:cNvPr id="12" name="Text 10"/>
          <p:cNvSpPr txBox="1"/>
          <p:nvPr/>
        </p:nvSpPr>
        <p:spPr>
          <a:xfrm>
            <a:off x="8595360" y="1810512"/>
            <a:ext cx="2743200" cy="365760"/>
          </a:xfrm>
          <a:prstGeom prst="rect">
            <a:avLst/>
          </a:prstGeom>
          <a:noFill/>
          <a:ln/>
        </p:spPr>
        <p:txBody>
          <a:bodyPr wrap="square" lIns="0" tIns="0" rIns="0" bIns="0" rtlCol="0" anchor="t"/>
          <a:lstStyle/>
          <a:p>
            <a:pPr indent="0" marL="0">
              <a:buNone/>
            </a:pPr>
            <a:r>
              <a:rPr lang="en-US" sz="1800" b="1" dirty="0">
                <a:solidFill>
                  <a:srgbClr val="11402F"/>
                </a:solidFill>
                <a:latin typeface="Arial" pitchFamily="34" charset="0"/>
                <a:ea typeface="Arial" pitchFamily="34" charset="-122"/>
                <a:cs typeface="Arial" pitchFamily="34" charset="-120"/>
              </a:rPr>
              <a:t>SwiftUI</a:t>
            </a:r>
            <a:endParaRPr lang="en-US" sz="1800" dirty="0"/>
          </a:p>
        </p:txBody>
      </p:sp>
      <p:sp>
        <p:nvSpPr>
          <p:cNvPr id="13" name="Text 11"/>
          <p:cNvSpPr txBox="1"/>
          <p:nvPr/>
        </p:nvSpPr>
        <p:spPr>
          <a:xfrm>
            <a:off x="8595360" y="2194560"/>
            <a:ext cx="2743200" cy="365760"/>
          </a:xfrm>
          <a:prstGeom prst="rect">
            <a:avLst/>
          </a:prstGeom>
          <a:noFill/>
          <a:ln/>
        </p:spPr>
        <p:txBody>
          <a:bodyPr wrap="square" lIns="0" tIns="0" rIns="0" bIns="0" rtlCol="0" anchor="t"/>
          <a:lstStyle/>
          <a:p>
            <a:pPr indent="0" marL="0">
              <a:buNone/>
            </a:pPr>
            <a:r>
              <a:rPr lang="en-US" sz="1300" dirty="0">
                <a:solidFill>
                  <a:srgbClr val="56625B"/>
                </a:solidFill>
              </a:rPr>
              <a:t>iOS, with Dynamic Type</a:t>
            </a:r>
            <a:endParaRPr lang="en-US" sz="1300" dirty="0"/>
          </a:p>
        </p:txBody>
      </p:sp>
      <p:sp>
        <p:nvSpPr>
          <p:cNvPr id="14" name="output-3"/>
          <p:cNvSpPr/>
          <p:nvPr/>
        </p:nvSpPr>
        <p:spPr>
          <a:xfrm>
            <a:off x="4983480" y="2880360"/>
            <a:ext cx="3154680" cy="1051560"/>
          </a:xfrm>
          <a:prstGeom prst="roundRect">
            <a:avLst>
              <a:gd name="adj" fmla="val 10435"/>
            </a:avLst>
          </a:prstGeom>
          <a:solidFill>
            <a:srgbClr val="FFFFFF"/>
          </a:solidFill>
          <a:ln w="12700">
            <a:solidFill>
              <a:srgbClr val="E4DED1"/>
            </a:solidFill>
            <a:prstDash val="solid"/>
          </a:ln>
        </p:spPr>
      </p:sp>
      <p:sp>
        <p:nvSpPr>
          <p:cNvPr id="15" name="Text 13"/>
          <p:cNvSpPr txBox="1"/>
          <p:nvPr/>
        </p:nvSpPr>
        <p:spPr>
          <a:xfrm>
            <a:off x="5212080" y="3044952"/>
            <a:ext cx="2743200" cy="365760"/>
          </a:xfrm>
          <a:prstGeom prst="rect">
            <a:avLst/>
          </a:prstGeom>
          <a:noFill/>
          <a:ln/>
        </p:spPr>
        <p:txBody>
          <a:bodyPr wrap="square" lIns="0" tIns="0" rIns="0" bIns="0" rtlCol="0" anchor="t"/>
          <a:lstStyle/>
          <a:p>
            <a:pPr indent="0" marL="0">
              <a:buNone/>
            </a:pPr>
            <a:r>
              <a:rPr lang="en-US" sz="1800" b="1" dirty="0">
                <a:solidFill>
                  <a:srgbClr val="11402F"/>
                </a:solidFill>
                <a:latin typeface="Arial" pitchFamily="34" charset="0"/>
                <a:ea typeface="Arial" pitchFamily="34" charset="-122"/>
                <a:cs typeface="Arial" pitchFamily="34" charset="-120"/>
              </a:rPr>
              <a:t>ArkUI</a:t>
            </a:r>
            <a:endParaRPr lang="en-US" sz="1800" dirty="0"/>
          </a:p>
        </p:txBody>
      </p:sp>
      <p:sp>
        <p:nvSpPr>
          <p:cNvPr id="16" name="Text 14"/>
          <p:cNvSpPr txBox="1"/>
          <p:nvPr/>
        </p:nvSpPr>
        <p:spPr>
          <a:xfrm>
            <a:off x="5212080" y="3429000"/>
            <a:ext cx="2743200" cy="365760"/>
          </a:xfrm>
          <a:prstGeom prst="rect">
            <a:avLst/>
          </a:prstGeom>
          <a:noFill/>
          <a:ln/>
        </p:spPr>
        <p:txBody>
          <a:bodyPr wrap="square" lIns="0" tIns="0" rIns="0" bIns="0" rtlCol="0" anchor="t"/>
          <a:lstStyle/>
          <a:p>
            <a:pPr indent="0" marL="0">
              <a:buNone/>
            </a:pPr>
            <a:r>
              <a:rPr lang="en-US" sz="1300" dirty="0">
                <a:solidFill>
                  <a:srgbClr val="56625B"/>
                </a:solidFill>
              </a:rPr>
              <a:t>HarmonyOS NEXT</a:t>
            </a:r>
            <a:endParaRPr lang="en-US" sz="1300" dirty="0"/>
          </a:p>
        </p:txBody>
      </p:sp>
      <p:sp>
        <p:nvSpPr>
          <p:cNvPr id="17" name="output-4"/>
          <p:cNvSpPr/>
          <p:nvPr/>
        </p:nvSpPr>
        <p:spPr>
          <a:xfrm>
            <a:off x="8366760" y="2880360"/>
            <a:ext cx="3154680" cy="1051560"/>
          </a:xfrm>
          <a:prstGeom prst="roundRect">
            <a:avLst>
              <a:gd name="adj" fmla="val 10435"/>
            </a:avLst>
          </a:prstGeom>
          <a:solidFill>
            <a:srgbClr val="FFFFFF"/>
          </a:solidFill>
          <a:ln w="12700">
            <a:solidFill>
              <a:srgbClr val="E4DED1"/>
            </a:solidFill>
            <a:prstDash val="solid"/>
          </a:ln>
        </p:spPr>
      </p:sp>
      <p:sp>
        <p:nvSpPr>
          <p:cNvPr id="18" name="Text 16"/>
          <p:cNvSpPr txBox="1"/>
          <p:nvPr/>
        </p:nvSpPr>
        <p:spPr>
          <a:xfrm>
            <a:off x="8595360" y="3044952"/>
            <a:ext cx="2743200" cy="365760"/>
          </a:xfrm>
          <a:prstGeom prst="rect">
            <a:avLst/>
          </a:prstGeom>
          <a:noFill/>
          <a:ln/>
        </p:spPr>
        <p:txBody>
          <a:bodyPr wrap="square" lIns="0" tIns="0" rIns="0" bIns="0" rtlCol="0" anchor="t"/>
          <a:lstStyle/>
          <a:p>
            <a:pPr indent="0" marL="0">
              <a:buNone/>
            </a:pPr>
            <a:r>
              <a:rPr lang="en-US" sz="1800" b="1" dirty="0">
                <a:solidFill>
                  <a:srgbClr val="11402F"/>
                </a:solidFill>
                <a:latin typeface="Arial" pitchFamily="34" charset="0"/>
                <a:ea typeface="Arial" pitchFamily="34" charset="-122"/>
                <a:cs typeface="Arial" pitchFamily="34" charset="-120"/>
              </a:rPr>
              <a:t>CSS variables</a:t>
            </a:r>
            <a:endParaRPr lang="en-US" sz="1800" dirty="0"/>
          </a:p>
        </p:txBody>
      </p:sp>
      <p:sp>
        <p:nvSpPr>
          <p:cNvPr id="19" name="Text 17"/>
          <p:cNvSpPr txBox="1"/>
          <p:nvPr/>
        </p:nvSpPr>
        <p:spPr>
          <a:xfrm>
            <a:off x="8595360" y="3429000"/>
            <a:ext cx="2743200" cy="365760"/>
          </a:xfrm>
          <a:prstGeom prst="rect">
            <a:avLst/>
          </a:prstGeom>
          <a:noFill/>
          <a:ln/>
        </p:spPr>
        <p:txBody>
          <a:bodyPr wrap="square" lIns="0" tIns="0" rIns="0" bIns="0" rtlCol="0" anchor="t"/>
          <a:lstStyle/>
          <a:p>
            <a:pPr indent="0" marL="0">
              <a:buNone/>
            </a:pPr>
            <a:r>
              <a:rPr lang="en-US" sz="1300" dirty="0">
                <a:solidFill>
                  <a:srgbClr val="56625B"/>
                </a:solidFill>
              </a:rPr>
              <a:t>Web app and back office</a:t>
            </a:r>
            <a:endParaRPr lang="en-US" sz="1300" dirty="0"/>
          </a:p>
        </p:txBody>
      </p:sp>
      <p:sp>
        <p:nvSpPr>
          <p:cNvPr id="20" name="swatch-1"/>
          <p:cNvSpPr/>
          <p:nvPr/>
        </p:nvSpPr>
        <p:spPr>
          <a:xfrm>
            <a:off x="548640" y="4526280"/>
            <a:ext cx="548640" cy="548640"/>
          </a:xfrm>
          <a:prstGeom prst="roundRect">
            <a:avLst>
              <a:gd name="adj" fmla="val 13333"/>
            </a:avLst>
          </a:prstGeom>
          <a:solidFill>
            <a:srgbClr val="0B2E21"/>
          </a:solidFill>
          <a:ln w="9525">
            <a:solidFill>
              <a:srgbClr val="7E8781"/>
            </a:solidFill>
            <a:prstDash val="solid"/>
          </a:ln>
        </p:spPr>
      </p:sp>
      <p:sp>
        <p:nvSpPr>
          <p:cNvPr id="21" name="swatch-2"/>
          <p:cNvSpPr/>
          <p:nvPr/>
        </p:nvSpPr>
        <p:spPr>
          <a:xfrm>
            <a:off x="1234440" y="4526280"/>
            <a:ext cx="548640" cy="548640"/>
          </a:xfrm>
          <a:prstGeom prst="roundRect">
            <a:avLst>
              <a:gd name="adj" fmla="val 13333"/>
            </a:avLst>
          </a:prstGeom>
          <a:solidFill>
            <a:srgbClr val="11402F"/>
          </a:solidFill>
          <a:ln w="9525">
            <a:solidFill>
              <a:srgbClr val="7E8781"/>
            </a:solidFill>
            <a:prstDash val="solid"/>
          </a:ln>
        </p:spPr>
      </p:sp>
      <p:sp>
        <p:nvSpPr>
          <p:cNvPr id="22" name="swatch-3"/>
          <p:cNvSpPr/>
          <p:nvPr/>
        </p:nvSpPr>
        <p:spPr>
          <a:xfrm>
            <a:off x="1920240" y="4526280"/>
            <a:ext cx="548640" cy="548640"/>
          </a:xfrm>
          <a:prstGeom prst="roundRect">
            <a:avLst>
              <a:gd name="adj" fmla="val 13333"/>
            </a:avLst>
          </a:prstGeom>
          <a:solidFill>
            <a:srgbClr val="D9B373"/>
          </a:solidFill>
          <a:ln w="9525">
            <a:solidFill>
              <a:srgbClr val="7E8781"/>
            </a:solidFill>
            <a:prstDash val="solid"/>
          </a:ln>
        </p:spPr>
      </p:sp>
      <p:sp>
        <p:nvSpPr>
          <p:cNvPr id="23" name="swatch-4"/>
          <p:cNvSpPr/>
          <p:nvPr/>
        </p:nvSpPr>
        <p:spPr>
          <a:xfrm>
            <a:off x="2606040" y="4526280"/>
            <a:ext cx="548640" cy="548640"/>
          </a:xfrm>
          <a:prstGeom prst="roundRect">
            <a:avLst>
              <a:gd name="adj" fmla="val 13333"/>
            </a:avLst>
          </a:prstGeom>
          <a:solidFill>
            <a:srgbClr val="3E8A5A"/>
          </a:solidFill>
          <a:ln w="9525">
            <a:solidFill>
              <a:srgbClr val="7E8781"/>
            </a:solidFill>
            <a:prstDash val="solid"/>
          </a:ln>
        </p:spPr>
      </p:sp>
      <p:sp>
        <p:nvSpPr>
          <p:cNvPr id="24" name="swatch-5"/>
          <p:cNvSpPr/>
          <p:nvPr/>
        </p:nvSpPr>
        <p:spPr>
          <a:xfrm>
            <a:off x="3291840" y="4526280"/>
            <a:ext cx="548640" cy="548640"/>
          </a:xfrm>
          <a:prstGeom prst="roundRect">
            <a:avLst>
              <a:gd name="adj" fmla="val 13333"/>
            </a:avLst>
          </a:prstGeom>
          <a:solidFill>
            <a:srgbClr val="F6F3EC"/>
          </a:solidFill>
          <a:ln w="9525">
            <a:solidFill>
              <a:srgbClr val="7E8781"/>
            </a:solidFill>
            <a:prstDash val="solid"/>
          </a:ln>
        </p:spPr>
      </p:sp>
      <p:sp>
        <p:nvSpPr>
          <p:cNvPr id="25" name="swatch-6"/>
          <p:cNvSpPr/>
          <p:nvPr/>
        </p:nvSpPr>
        <p:spPr>
          <a:xfrm>
            <a:off x="3977640" y="4526280"/>
            <a:ext cx="548640" cy="548640"/>
          </a:xfrm>
          <a:prstGeom prst="roundRect">
            <a:avLst>
              <a:gd name="adj" fmla="val 13333"/>
            </a:avLst>
          </a:prstGeom>
          <a:solidFill>
            <a:srgbClr val="A3620E"/>
          </a:solidFill>
          <a:ln w="9525">
            <a:solidFill>
              <a:srgbClr val="7E8781"/>
            </a:solidFill>
            <a:prstDash val="solid"/>
          </a:ln>
        </p:spPr>
      </p:sp>
      <p:sp>
        <p:nvSpPr>
          <p:cNvPr id="26" name="swatch-7"/>
          <p:cNvSpPr/>
          <p:nvPr/>
        </p:nvSpPr>
        <p:spPr>
          <a:xfrm>
            <a:off x="4663440" y="4526280"/>
            <a:ext cx="548640" cy="548640"/>
          </a:xfrm>
          <a:prstGeom prst="roundRect">
            <a:avLst>
              <a:gd name="adj" fmla="val 13333"/>
            </a:avLst>
          </a:prstGeom>
          <a:solidFill>
            <a:srgbClr val="A23B2A"/>
          </a:solidFill>
          <a:ln w="9525">
            <a:solidFill>
              <a:srgbClr val="7E8781"/>
            </a:solidFill>
            <a:prstDash val="solid"/>
          </a:ln>
        </p:spPr>
      </p:sp>
      <p:sp>
        <p:nvSpPr>
          <p:cNvPr id="27" name="Text 25"/>
          <p:cNvSpPr txBox="1"/>
          <p:nvPr/>
        </p:nvSpPr>
        <p:spPr>
          <a:xfrm>
            <a:off x="5486400" y="4526280"/>
            <a:ext cx="6126480" cy="731520"/>
          </a:xfrm>
          <a:prstGeom prst="rect">
            <a:avLst/>
          </a:prstGeom>
          <a:noFill/>
          <a:ln/>
        </p:spPr>
        <p:txBody>
          <a:bodyPr wrap="square" lIns="0" tIns="0" rIns="0" bIns="0" rtlCol="0" anchor="t"/>
          <a:lstStyle/>
          <a:p>
            <a:pPr indent="0" marL="0">
              <a:buNone/>
            </a:pPr>
            <a:r>
              <a:rPr lang="en-US" sz="1400" dirty="0">
                <a:solidFill>
                  <a:srgbClr val="56625B"/>
                </a:solidFill>
              </a:rPr>
              <a:t>Brand palette, plus darker text variants for leaf, warning and borders where the brand colours fall below 4.5:1.</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rgbClr val="0B2E21"/>
                </a:solidFill>
                <a:latin typeface="Arial" pitchFamily="34" charset="0"/>
                <a:ea typeface="Arial" pitchFamily="34" charset="-122"/>
                <a:cs typeface="Arial" pitchFamily="34" charset="-120"/>
              </a:rPr>
              <a:t>Five ways Lifa reaches people</a:t>
            </a:r>
            <a:endParaRPr lang="en-US" sz="3600" dirty="0"/>
          </a:p>
        </p:txBody>
      </p:sp>
      <p:sp>
        <p:nvSpPr>
          <p:cNvPr id="3" name="Text 0"/>
          <p:cNvSpPr/>
          <p:nvPr>
            <p:ph idx="101" type="body" hasCustomPrompt="1"/>
          </p:nvPr>
        </p:nvSpPr>
        <p:spPr>
          <a:xfrm>
            <a:off x="548640" y="6355080"/>
            <a:ext cx="10545775" cy="320040"/>
          </a:xfrm>
          <a:prstGeom prst="rect">
            <a:avLst/>
          </a:prstGeom>
          <a:noFill/>
          <a:ln/>
        </p:spPr>
        <p:txBody>
          <a:bodyPr wrap="square" lIns="0" tIns="0" rIns="0" bIns="0" rtlCol="0" anchor="t"/>
          <a:lstStyle/>
          <a:p>
            <a:pPr algn="l" indent="0" marL="0">
              <a:buNone/>
            </a:pPr>
            <a:r>
              <a:rPr lang="en-US" sz="1000" dirty="0">
                <a:solidFill>
                  <a:srgbClr val="56625B"/>
                </a:solidFill>
              </a:rPr>
              <a:t>Each rendered section shows the whole gallery in light, dark and large text · every image is a real render, none are mock-ups</a:t>
            </a:r>
            <a:endParaRPr lang="en-US" sz="1000" dirty="0"/>
          </a:p>
        </p:txBody>
      </p:sp>
      <p:graphicFrame>
        <p:nvGraphicFramePr>
          <p:cNvPr id="5" name="distributions"/>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566160"/>
                <a:gridCol w="4873752"/>
                <a:gridCol w="265176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Distribution</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0B2E2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Client</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0B2E2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Status</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0B2E21"/>
                    </a:solidFill>
                  </a:tcPr>
                </a:tc>
              </a:tr>
              <a:tr h="566928">
                <a:tc>
                  <a:txBody>
                    <a:bodyPr/>
                    <a:lstStyle/>
                    <a:p>
                      <a:pPr indent="0" marL="0">
                        <a:buNone/>
                      </a:pPr>
                      <a:r>
                        <a:rPr lang="en-US" sz="1600" b="1" dirty="0">
                          <a:solidFill>
                            <a:srgbClr val="11402F"/>
                          </a:solidFill>
                          <a:latin typeface="Calibri" pitchFamily="34" charset="0"/>
                          <a:ea typeface="Calibri" pitchFamily="34" charset="-122"/>
                          <a:cs typeface="Calibri" pitchFamily="34" charset="-120"/>
                        </a:rPr>
                        <a:t>Web · any browser</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56625B"/>
                          </a:solidFill>
                          <a:latin typeface="Calibri" pitchFamily="34" charset="0"/>
                          <a:ea typeface="Calibri" pitchFamily="34" charset="-122"/>
                          <a:cs typeface="Calibri" pitchFamily="34" charset="-120"/>
                        </a:rPr>
                        <a:t>React app, phone and desktop</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2E6B45"/>
                          </a:solidFill>
                          <a:latin typeface="Calibri" pitchFamily="34" charset="0"/>
                          <a:ea typeface="Calibri" pitchFamily="34" charset="-122"/>
                          <a:cs typeface="Calibri" pitchFamily="34" charset="-120"/>
                        </a:rPr>
                        <a:t>Rendered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402F"/>
                          </a:solidFill>
                          <a:latin typeface="Calibri" pitchFamily="34" charset="0"/>
                          <a:ea typeface="Calibri" pitchFamily="34" charset="-122"/>
                          <a:cs typeface="Calibri" pitchFamily="34" charset="-120"/>
                        </a:rPr>
                        <a:t>iOS · App Store</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56625B"/>
                          </a:solidFill>
                          <a:latin typeface="Calibri" pitchFamily="34" charset="0"/>
                          <a:ea typeface="Calibri" pitchFamily="34" charset="-122"/>
                          <a:cs typeface="Calibri" pitchFamily="34" charset="-120"/>
                        </a:rPr>
                        <a:t>SwiftUI app on the iPhone simulator</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2E6B45"/>
                          </a:solidFill>
                          <a:latin typeface="Calibri" pitchFamily="34" charset="0"/>
                          <a:ea typeface="Calibri" pitchFamily="34" charset="-122"/>
                          <a:cs typeface="Calibri" pitchFamily="34" charset="-120"/>
                        </a:rPr>
                        <a:t>Rendered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402F"/>
                          </a:solidFill>
                          <a:latin typeface="Calibri" pitchFamily="34" charset="0"/>
                          <a:ea typeface="Calibri" pitchFamily="34" charset="-122"/>
                          <a:cs typeface="Calibri" pitchFamily="34" charset="-120"/>
                        </a:rPr>
                        <a:t>Android · Google Play</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56625B"/>
                          </a:solidFill>
                          <a:latin typeface="Calibri" pitchFamily="34" charset="0"/>
                          <a:ea typeface="Calibri" pitchFamily="34" charset="-122"/>
                          <a:cs typeface="Calibri" pitchFamily="34" charset="-120"/>
                        </a:rPr>
                        <a:t>Compose app, gms build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2E6B45"/>
                          </a:solidFill>
                          <a:latin typeface="Calibri" pitchFamily="34" charset="0"/>
                          <a:ea typeface="Calibri" pitchFamily="34" charset="-122"/>
                          <a:cs typeface="Calibri" pitchFamily="34" charset="-120"/>
                        </a:rPr>
                        <a:t>Rendered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402F"/>
                          </a:solidFill>
                          <a:latin typeface="Calibri" pitchFamily="34" charset="0"/>
                          <a:ea typeface="Calibri" pitchFamily="34" charset="-122"/>
                          <a:cs typeface="Calibri" pitchFamily="34" charset="-120"/>
                        </a:rPr>
                        <a:t>Android · Huawei AppGallery</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56625B"/>
                          </a:solidFill>
                          <a:latin typeface="Calibri" pitchFamily="34" charset="0"/>
                          <a:ea typeface="Calibri" pitchFamily="34" charset="-122"/>
                          <a:cs typeface="Calibri" pitchFamily="34" charset="-120"/>
                        </a:rPr>
                        <a:t>Same Compose app, hms build, no Google services</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2E6B45"/>
                          </a:solidFill>
                          <a:latin typeface="Calibri" pitchFamily="34" charset="0"/>
                          <a:ea typeface="Calibri" pitchFamily="34" charset="-122"/>
                          <a:cs typeface="Calibri" pitchFamily="34" charset="-120"/>
                        </a:rPr>
                        <a:t>Rendered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1402F"/>
                          </a:solidFill>
                          <a:latin typeface="Calibri" pitchFamily="34" charset="0"/>
                          <a:ea typeface="Calibri" pitchFamily="34" charset="-122"/>
                          <a:cs typeface="Calibri" pitchFamily="34" charset="-120"/>
                        </a:rPr>
                        <a:t>HarmonyOS NEXT · AppGallery</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56625B"/>
                          </a:solidFill>
                          <a:latin typeface="Calibri" pitchFamily="34" charset="0"/>
                          <a:ea typeface="Calibri" pitchFamily="34" charset="-122"/>
                          <a:cs typeface="Calibri" pitchFamily="34" charset="-120"/>
                        </a:rPr>
                        <a:t>ArkTS app for Huawei phones without Android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c>
                  <a:txBody>
                    <a:bodyPr/>
                    <a:lstStyle/>
                    <a:p>
                      <a:pPr indent="0" marL="0">
                        <a:buNone/>
                      </a:pPr>
                      <a:r>
                        <a:rPr lang="en-US" sz="1600" dirty="0">
                          <a:solidFill>
                            <a:srgbClr val="8A4F06"/>
                          </a:solidFill>
                          <a:latin typeface="Calibri" pitchFamily="34" charset="0"/>
                          <a:ea typeface="Calibri" pitchFamily="34" charset="-122"/>
                          <a:cs typeface="Calibri" pitchFamily="34" charset="-120"/>
                        </a:rPr>
                        <a:t>Code only, not yet rendered</a:t>
                      </a:r>
                      <a:endParaRPr lang="en-US" sz="1600" dirty="0">
                        <a:latin typeface="Calibri" charset="0"/>
                        <a:ea typeface="Calibri" charset="0"/>
                        <a:cs typeface="Calibri" charset="0"/>
                      </a:endParaRPr>
                    </a:p>
                  </a:txBody>
                  <a:tcPr marL="137160" marR="137160" marT="73152" marB="73152">
                    <a:lnL w="9525" cap="flat" cmpd="sng" algn="ctr">
                      <a:solidFill>
                        <a:srgbClr val="D6CFBF"/>
                      </a:solidFill>
                      <a:prstDash val="solid"/>
                      <a:round/>
                      <a:headEnd type="none" w="med" len="med"/>
                      <a:tailEnd type="none" w="med" len="med"/>
                    </a:lnL>
                    <a:lnR w="9525" cap="flat" cmpd="sng" algn="ctr">
                      <a:solidFill>
                        <a:srgbClr val="D6CFBF"/>
                      </a:solidFill>
                      <a:prstDash val="solid"/>
                      <a:round/>
                      <a:headEnd type="none" w="med" len="med"/>
                      <a:tailEnd type="none" w="med" len="med"/>
                    </a:lnR>
                    <a:lnT w="9525" cap="flat" cmpd="sng" algn="ctr">
                      <a:solidFill>
                        <a:srgbClr val="D6CFBF"/>
                      </a:solidFill>
                      <a:prstDash val="solid"/>
                      <a:round/>
                      <a:headEnd type="none" w="med" len="med"/>
                      <a:tailEnd type="none" w="med" len="med"/>
                    </a:lnT>
                    <a:lnB w="9525" cap="flat" cmpd="sng" algn="ctr">
                      <a:solidFill>
                        <a:srgbClr val="D6CFB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WEB · ANY BROWSER · LIGHT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Phone width, screens 1–4 of 8</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Chromium (Playwright 1.56.1), 390 × 844 viewport, 2× pixel density · the built web app</a:t>
            </a:r>
            <a:endParaRPr lang="en-US" sz="1000" dirty="0"/>
          </a:p>
        </p:txBody>
      </p:sp>
      <p:pic>
        <p:nvPicPr>
          <p:cNvPr id="5" name="shot-1" descr="Web · any browser · light: Header, theme and text-size controls, colours">    </p:cNvPr>
          <p:cNvPicPr>
            <a:picLocks noChangeAspect="1"/>
          </p:cNvPicPr>
          <p:nvPr/>
        </p:nvPicPr>
        <p:blipFill>
          <a:blip r:embed="rId1"/>
          <a:stretch>
            <a:fillRect/>
          </a:stretch>
        </p:blipFill>
        <p:spPr>
          <a:xfrm>
            <a:off x="1654399" y="1371600"/>
            <a:ext cx="2049274" cy="4434840"/>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1654399"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Header, theme and text-size controls, colours</a:t>
            </a:r>
            <a:endParaRPr lang="en-US" sz="1100" dirty="0"/>
          </a:p>
        </p:txBody>
      </p:sp>
      <p:pic>
        <p:nvPicPr>
          <p:cNvPr id="7" name="shot-2" descr="Web · any browser · light: Colour tokens and type scale">    </p:cNvPr>
          <p:cNvPicPr>
            <a:picLocks noChangeAspect="1"/>
          </p:cNvPicPr>
          <p:nvPr/>
        </p:nvPicPr>
        <p:blipFill>
          <a:blip r:embed="rId2"/>
          <a:stretch>
            <a:fillRect/>
          </a:stretch>
        </p:blipFill>
        <p:spPr>
          <a:xfrm>
            <a:off x="3932273" y="1371600"/>
            <a:ext cx="2049274" cy="4434840"/>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3932273"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Colour tokens and type scale</a:t>
            </a:r>
            <a:endParaRPr lang="en-US" sz="1100" dirty="0"/>
          </a:p>
        </p:txBody>
      </p:sp>
      <p:pic>
        <p:nvPicPr>
          <p:cNvPr id="9" name="shot-3" descr="Web · any browser · light: Buttons, badges and evidence labels">    </p:cNvPr>
          <p:cNvPicPr>
            <a:picLocks noChangeAspect="1"/>
          </p:cNvPicPr>
          <p:nvPr/>
        </p:nvPicPr>
        <p:blipFill>
          <a:blip r:embed="rId3"/>
          <a:stretch>
            <a:fillRect/>
          </a:stretch>
        </p:blipFill>
        <p:spPr>
          <a:xfrm>
            <a:off x="6210148"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6210148"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Buttons, badges and evidence labels</a:t>
            </a:r>
            <a:endParaRPr lang="en-US" sz="1100" dirty="0"/>
          </a:p>
        </p:txBody>
      </p:sp>
      <p:pic>
        <p:nvPicPr>
          <p:cNvPr id="11" name="shot-4" descr="Web · any browser · light: Amounts, check-in banner, Legacy Score, quick actions">    </p:cNvPr>
          <p:cNvPicPr>
            <a:picLocks noChangeAspect="1"/>
          </p:cNvPicPr>
          <p:nvPr/>
        </p:nvPicPr>
        <p:blipFill>
          <a:blip r:embed="rId4"/>
          <a:stretch>
            <a:fillRect/>
          </a:stretch>
        </p:blipFill>
        <p:spPr>
          <a:xfrm>
            <a:off x="8488022"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8488022"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Amounts, check-in banner, Legacy Score, quick actions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WEB · ANY BROWSER · LIGHT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Phone width, screens 5–8 of 8</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Chromium (Playwright 1.56.1), 390 × 844 viewport, 2× pixel density · the built web app</a:t>
            </a:r>
            <a:endParaRPr lang="en-US" sz="1000" dirty="0"/>
          </a:p>
        </p:txBody>
      </p:sp>
      <p:pic>
        <p:nvPicPr>
          <p:cNvPr id="5" name="shot-1" descr="Web · any browser · light: List rows, progress, text fields">    </p:cNvPr>
          <p:cNvPicPr>
            <a:picLocks noChangeAspect="1"/>
          </p:cNvPicPr>
          <p:nvPr/>
        </p:nvPicPr>
        <p:blipFill>
          <a:blip r:embed="rId1"/>
          <a:stretch>
            <a:fillRect/>
          </a:stretch>
        </p:blipFill>
        <p:spPr>
          <a:xfrm>
            <a:off x="1654399" y="1371600"/>
            <a:ext cx="2049274" cy="4434840"/>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1654399"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List rows, progress, text fields</a:t>
            </a:r>
            <a:endParaRPr lang="en-US" sz="1100" dirty="0"/>
          </a:p>
        </p:txBody>
      </p:sp>
      <p:pic>
        <p:nvPicPr>
          <p:cNvPr id="7" name="shot-2" descr="Web · any browser · light: Validation, share allocation, under-18 callout">    </p:cNvPr>
          <p:cNvPicPr>
            <a:picLocks noChangeAspect="1"/>
          </p:cNvPicPr>
          <p:nvPr/>
        </p:nvPicPr>
        <p:blipFill>
          <a:blip r:embed="rId2"/>
          <a:stretch>
            <a:fillRect/>
          </a:stretch>
        </p:blipFill>
        <p:spPr>
          <a:xfrm>
            <a:off x="3932273" y="1371600"/>
            <a:ext cx="2049274" cy="4434840"/>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3932273"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Validation, share allocation, under-18 callout</a:t>
            </a:r>
            <a:endParaRPr lang="en-US" sz="1100" dirty="0"/>
          </a:p>
        </p:txBody>
      </p:sp>
      <p:pic>
        <p:nvPicPr>
          <p:cNvPr id="9" name="shot-3" descr="Web · any browser · light: Residency callout, marital-regime choices, segmented controls">    </p:cNvPr>
          <p:cNvPicPr>
            <a:picLocks noChangeAspect="1"/>
          </p:cNvPicPr>
          <p:nvPr/>
        </p:nvPicPr>
        <p:blipFill>
          <a:blip r:embed="rId3"/>
          <a:stretch>
            <a:fillRect/>
          </a:stretch>
        </p:blipFill>
        <p:spPr>
          <a:xfrm>
            <a:off x="6210148"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6210148"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Residency callout, marital-regime choices, segmented controls</a:t>
            </a:r>
            <a:endParaRPr lang="en-US" sz="1100" dirty="0"/>
          </a:p>
        </p:txBody>
      </p:sp>
      <p:pic>
        <p:nvPicPr>
          <p:cNvPr id="11" name="shot-4" descr="Web · any browser · light: Toggles, checkboxes, navigation, disclosures">    </p:cNvPr>
          <p:cNvPicPr>
            <a:picLocks noChangeAspect="1"/>
          </p:cNvPicPr>
          <p:nvPr/>
        </p:nvPicPr>
        <p:blipFill>
          <a:blip r:embed="rId4"/>
          <a:stretch>
            <a:fillRect/>
          </a:stretch>
        </p:blipFill>
        <p:spPr>
          <a:xfrm>
            <a:off x="8488022"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8488022" y="5897880"/>
            <a:ext cx="2049274" cy="457200"/>
          </a:xfrm>
          <a:prstGeom prst="rect">
            <a:avLst/>
          </a:prstGeom>
          <a:noFill/>
          <a:ln/>
        </p:spPr>
        <p:txBody>
          <a:bodyPr wrap="square" lIns="0" tIns="0" rIns="0" bIns="0" rtlCol="0" anchor="t"/>
          <a:lstStyle/>
          <a:p>
            <a:pPr indent="0" marL="0">
              <a:buNone/>
            </a:pPr>
            <a:r>
              <a:rPr lang="en-US" sz="1100" dirty="0">
                <a:solidFill>
                  <a:srgbClr val="56625B"/>
                </a:solidFill>
              </a:rPr>
              <a:t>Toggles, checkboxes,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WEB · ANY BROWSER · DARK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Phone width, screens 1–4 of 8</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Chromium (Playwright 1.56.1), 390 × 844 viewport, 2× pixel density · the built web app · dark follows the system setting</a:t>
            </a:r>
            <a:endParaRPr lang="en-US" sz="1000" dirty="0"/>
          </a:p>
        </p:txBody>
      </p:sp>
      <p:pic>
        <p:nvPicPr>
          <p:cNvPr id="5" name="shot-1" descr="Web · any browser · dark: Header, theme and text-size controls, colours">    </p:cNvPr>
          <p:cNvPicPr>
            <a:picLocks noChangeAspect="1"/>
          </p:cNvPicPr>
          <p:nvPr/>
        </p:nvPicPr>
        <p:blipFill>
          <a:blip r:embed="rId1"/>
          <a:stretch>
            <a:fillRect/>
          </a:stretch>
        </p:blipFill>
        <p:spPr>
          <a:xfrm>
            <a:off x="1654399" y="1371600"/>
            <a:ext cx="2049274" cy="4434840"/>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1654399"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Header, theme and text-size controls, colours</a:t>
            </a:r>
            <a:endParaRPr lang="en-US" sz="1100" dirty="0"/>
          </a:p>
        </p:txBody>
      </p:sp>
      <p:pic>
        <p:nvPicPr>
          <p:cNvPr id="7" name="shot-2" descr="Web · any browser · dark: Colour tokens and type scale">    </p:cNvPr>
          <p:cNvPicPr>
            <a:picLocks noChangeAspect="1"/>
          </p:cNvPicPr>
          <p:nvPr/>
        </p:nvPicPr>
        <p:blipFill>
          <a:blip r:embed="rId2"/>
          <a:stretch>
            <a:fillRect/>
          </a:stretch>
        </p:blipFill>
        <p:spPr>
          <a:xfrm>
            <a:off x="3932273" y="1371600"/>
            <a:ext cx="2049274" cy="4434840"/>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3932273"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Colour tokens and type scale</a:t>
            </a:r>
            <a:endParaRPr lang="en-US" sz="1100" dirty="0"/>
          </a:p>
        </p:txBody>
      </p:sp>
      <p:pic>
        <p:nvPicPr>
          <p:cNvPr id="9" name="shot-3" descr="Web · any browser · dark: Buttons, badges and evidence labels">    </p:cNvPr>
          <p:cNvPicPr>
            <a:picLocks noChangeAspect="1"/>
          </p:cNvPicPr>
          <p:nvPr/>
        </p:nvPicPr>
        <p:blipFill>
          <a:blip r:embed="rId3"/>
          <a:stretch>
            <a:fillRect/>
          </a:stretch>
        </p:blipFill>
        <p:spPr>
          <a:xfrm>
            <a:off x="6210148"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6210148"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Buttons, badges and evidence labels</a:t>
            </a:r>
            <a:endParaRPr lang="en-US" sz="1100" dirty="0"/>
          </a:p>
        </p:txBody>
      </p:sp>
      <p:pic>
        <p:nvPicPr>
          <p:cNvPr id="11" name="shot-4" descr="Web · any browser · dark: Amounts, check-in banner, Legacy Score, quick actions">    </p:cNvPr>
          <p:cNvPicPr>
            <a:picLocks noChangeAspect="1"/>
          </p:cNvPicPr>
          <p:nvPr/>
        </p:nvPicPr>
        <p:blipFill>
          <a:blip r:embed="rId4"/>
          <a:stretch>
            <a:fillRect/>
          </a:stretch>
        </p:blipFill>
        <p:spPr>
          <a:xfrm>
            <a:off x="8488022"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8488022"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Amounts, check-in banner, Legacy Score, quick actions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WEB · ANY BROWSER · DARK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Phone width, screens 5–8 of 8</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Chromium (Playwright 1.56.1), 390 × 844 viewport, 2× pixel density · the built web app · dark follows the system setting</a:t>
            </a:r>
            <a:endParaRPr lang="en-US" sz="1000" dirty="0"/>
          </a:p>
        </p:txBody>
      </p:sp>
      <p:pic>
        <p:nvPicPr>
          <p:cNvPr id="5" name="shot-1" descr="Web · any browser · dark: List rows, progress, text fields">    </p:cNvPr>
          <p:cNvPicPr>
            <a:picLocks noChangeAspect="1"/>
          </p:cNvPicPr>
          <p:nvPr/>
        </p:nvPicPr>
        <p:blipFill>
          <a:blip r:embed="rId1"/>
          <a:stretch>
            <a:fillRect/>
          </a:stretch>
        </p:blipFill>
        <p:spPr>
          <a:xfrm>
            <a:off x="1654399" y="1371600"/>
            <a:ext cx="2049274" cy="4434840"/>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1654399"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List rows, progress, text fields</a:t>
            </a:r>
            <a:endParaRPr lang="en-US" sz="1100" dirty="0"/>
          </a:p>
        </p:txBody>
      </p:sp>
      <p:pic>
        <p:nvPicPr>
          <p:cNvPr id="7" name="shot-2" descr="Web · any browser · dark: Validation, share allocation, under-18 callout">    </p:cNvPr>
          <p:cNvPicPr>
            <a:picLocks noChangeAspect="1"/>
          </p:cNvPicPr>
          <p:nvPr/>
        </p:nvPicPr>
        <p:blipFill>
          <a:blip r:embed="rId2"/>
          <a:stretch>
            <a:fillRect/>
          </a:stretch>
        </p:blipFill>
        <p:spPr>
          <a:xfrm>
            <a:off x="3932273" y="1371600"/>
            <a:ext cx="2049274" cy="4434840"/>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3932273"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Validation, share allocation, under-18 callout</a:t>
            </a:r>
            <a:endParaRPr lang="en-US" sz="1100" dirty="0"/>
          </a:p>
        </p:txBody>
      </p:sp>
      <p:pic>
        <p:nvPicPr>
          <p:cNvPr id="9" name="shot-3" descr="Web · any browser · dark: Residency callout, marital-regime choices, segmented controls">    </p:cNvPr>
          <p:cNvPicPr>
            <a:picLocks noChangeAspect="1"/>
          </p:cNvPicPr>
          <p:nvPr/>
        </p:nvPicPr>
        <p:blipFill>
          <a:blip r:embed="rId3"/>
          <a:stretch>
            <a:fillRect/>
          </a:stretch>
        </p:blipFill>
        <p:spPr>
          <a:xfrm>
            <a:off x="6210148"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6210148"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Residency callout, marital-regime choices, segmented controls</a:t>
            </a:r>
            <a:endParaRPr lang="en-US" sz="1100" dirty="0"/>
          </a:p>
        </p:txBody>
      </p:sp>
      <p:pic>
        <p:nvPicPr>
          <p:cNvPr id="11" name="shot-4" descr="Web · any browser · dark: Toggles, checkboxes, navigation, disclosures">    </p:cNvPr>
          <p:cNvPicPr>
            <a:picLocks noChangeAspect="1"/>
          </p:cNvPicPr>
          <p:nvPr/>
        </p:nvPicPr>
        <p:blipFill>
          <a:blip r:embed="rId4"/>
          <a:stretch>
            <a:fillRect/>
          </a:stretch>
        </p:blipFill>
        <p:spPr>
          <a:xfrm>
            <a:off x="8488022" y="1371600"/>
            <a:ext cx="2049274" cy="4434840"/>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8488022" y="5897880"/>
            <a:ext cx="2049274" cy="457200"/>
          </a:xfrm>
          <a:prstGeom prst="rect">
            <a:avLst/>
          </a:prstGeom>
          <a:noFill/>
          <a:ln/>
        </p:spPr>
        <p:txBody>
          <a:bodyPr wrap="square" lIns="0" tIns="0" rIns="0" bIns="0" rtlCol="0" anchor="t"/>
          <a:lstStyle/>
          <a:p>
            <a:pPr indent="0" marL="0">
              <a:buNone/>
            </a:pPr>
            <a:r>
              <a:rPr lang="en-US" sz="1100" dirty="0">
                <a:solidFill>
                  <a:srgbClr val="B7C9BE"/>
                </a:solidFill>
              </a:rPr>
              <a:t>Toggles, checkboxes,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WEB · ANY BROWSER · 200% TEXT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Large text reflows instead of clipping</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6 of the 22 screens the gallery needs at 200% text · same viewport, light mode</a:t>
            </a:r>
            <a:endParaRPr lang="en-US" sz="1000" dirty="0"/>
          </a:p>
        </p:txBody>
      </p:sp>
      <p:pic>
        <p:nvPicPr>
          <p:cNvPr id="5" name="shot-1" descr="Web · any browser · 200% text: Header: title wraps, controls stack">    </p:cNvPr>
          <p:cNvPicPr>
            <a:picLocks noChangeAspect="1"/>
          </p:cNvPicPr>
          <p:nvPr/>
        </p:nvPicPr>
        <p:blipFill>
          <a:blip r:embed="rId1"/>
          <a:stretch>
            <a:fillRect/>
          </a:stretch>
        </p:blipFill>
        <p:spPr>
          <a:xfrm>
            <a:off x="548640" y="1371600"/>
            <a:ext cx="1658569" cy="3589314"/>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052354"/>
            <a:ext cx="1658569" cy="457200"/>
          </a:xfrm>
          <a:prstGeom prst="rect">
            <a:avLst/>
          </a:prstGeom>
          <a:noFill/>
          <a:ln/>
        </p:spPr>
        <p:txBody>
          <a:bodyPr wrap="square" lIns="0" tIns="0" rIns="0" bIns="0" rtlCol="0" anchor="t"/>
          <a:lstStyle/>
          <a:p>
            <a:pPr indent="0" marL="0">
              <a:buNone/>
            </a:pPr>
            <a:r>
              <a:rPr lang="en-US" sz="1100" dirty="0">
                <a:solidFill>
                  <a:srgbClr val="56625B"/>
                </a:solidFill>
              </a:rPr>
              <a:t>Header: title wraps, controls stack</a:t>
            </a:r>
            <a:endParaRPr lang="en-US" sz="1100" dirty="0"/>
          </a:p>
        </p:txBody>
      </p:sp>
      <p:pic>
        <p:nvPicPr>
          <p:cNvPr id="7" name="shot-2" descr="Web · any browser · 200% text: Type scale">    </p:cNvPr>
          <p:cNvPicPr>
            <a:picLocks noChangeAspect="1"/>
          </p:cNvPicPr>
          <p:nvPr/>
        </p:nvPicPr>
        <p:blipFill>
          <a:blip r:embed="rId2"/>
          <a:stretch>
            <a:fillRect/>
          </a:stretch>
        </p:blipFill>
        <p:spPr>
          <a:xfrm>
            <a:off x="2435809" y="1371600"/>
            <a:ext cx="1658569" cy="3589314"/>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052354"/>
            <a:ext cx="1658569" cy="457200"/>
          </a:xfrm>
          <a:prstGeom prst="rect">
            <a:avLst/>
          </a:prstGeom>
          <a:noFill/>
          <a:ln/>
        </p:spPr>
        <p:txBody>
          <a:bodyPr wrap="square" lIns="0" tIns="0" rIns="0" bIns="0" rtlCol="0" anchor="t"/>
          <a:lstStyle/>
          <a:p>
            <a:pPr indent="0" marL="0">
              <a:buNone/>
            </a:pPr>
            <a:r>
              <a:rPr lang="en-US" sz="1100" dirty="0">
                <a:solidFill>
                  <a:srgbClr val="56625B"/>
                </a:solidFill>
              </a:rPr>
              <a:t>Type scale</a:t>
            </a:r>
            <a:endParaRPr lang="en-US" sz="1100" dirty="0"/>
          </a:p>
        </p:txBody>
      </p:sp>
      <p:pic>
        <p:nvPicPr>
          <p:cNvPr id="9" name="shot-3" descr="Web · any browser · 200% text: Badges wrap one per line">    </p:cNvPr>
          <p:cNvPicPr>
            <a:picLocks noChangeAspect="1"/>
          </p:cNvPicPr>
          <p:nvPr/>
        </p:nvPicPr>
        <p:blipFill>
          <a:blip r:embed="rId3"/>
          <a:stretch>
            <a:fillRect/>
          </a:stretch>
        </p:blipFill>
        <p:spPr>
          <a:xfrm>
            <a:off x="4322978" y="1371600"/>
            <a:ext cx="1658569" cy="3589314"/>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052354"/>
            <a:ext cx="1658569" cy="457200"/>
          </a:xfrm>
          <a:prstGeom prst="rect">
            <a:avLst/>
          </a:prstGeom>
          <a:noFill/>
          <a:ln/>
        </p:spPr>
        <p:txBody>
          <a:bodyPr wrap="square" lIns="0" tIns="0" rIns="0" bIns="0" rtlCol="0" anchor="t"/>
          <a:lstStyle/>
          <a:p>
            <a:pPr indent="0" marL="0">
              <a:buNone/>
            </a:pPr>
            <a:r>
              <a:rPr lang="en-US" sz="1100" dirty="0">
                <a:solidFill>
                  <a:srgbClr val="56625B"/>
                </a:solidFill>
              </a:rPr>
              <a:t>Badges wrap one per line</a:t>
            </a:r>
            <a:endParaRPr lang="en-US" sz="1100" dirty="0"/>
          </a:p>
        </p:txBody>
      </p:sp>
      <p:pic>
        <p:nvPicPr>
          <p:cNvPr id="11" name="shot-4" descr="Web · any browser · 200% text: People rows stack the role badge">    </p:cNvPr>
          <p:cNvPicPr>
            <a:picLocks noChangeAspect="1"/>
          </p:cNvPicPr>
          <p:nvPr/>
        </p:nvPicPr>
        <p:blipFill>
          <a:blip r:embed="rId4"/>
          <a:stretch>
            <a:fillRect/>
          </a:stretch>
        </p:blipFill>
        <p:spPr>
          <a:xfrm>
            <a:off x="6210148" y="1371600"/>
            <a:ext cx="1658569" cy="3589314"/>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052354"/>
            <a:ext cx="1658569" cy="457200"/>
          </a:xfrm>
          <a:prstGeom prst="rect">
            <a:avLst/>
          </a:prstGeom>
          <a:noFill/>
          <a:ln/>
        </p:spPr>
        <p:txBody>
          <a:bodyPr wrap="square" lIns="0" tIns="0" rIns="0" bIns="0" rtlCol="0" anchor="t"/>
          <a:lstStyle/>
          <a:p>
            <a:pPr indent="0" marL="0">
              <a:buNone/>
            </a:pPr>
            <a:r>
              <a:rPr lang="en-US" sz="1100" dirty="0">
                <a:solidFill>
                  <a:srgbClr val="56625B"/>
                </a:solidFill>
              </a:rPr>
              <a:t>People rows stack the role badge</a:t>
            </a:r>
            <a:endParaRPr lang="en-US" sz="1100" dirty="0"/>
          </a:p>
        </p:txBody>
      </p:sp>
      <p:pic>
        <p:nvPicPr>
          <p:cNvPr id="13" name="shot-5" descr="Web · any browser · 200% text: Allocation and the under-18 callout">    </p:cNvPr>
          <p:cNvPicPr>
            <a:picLocks noChangeAspect="1"/>
          </p:cNvPicPr>
          <p:nvPr/>
        </p:nvPicPr>
        <p:blipFill>
          <a:blip r:embed="rId5"/>
          <a:stretch>
            <a:fillRect/>
          </a:stretch>
        </p:blipFill>
        <p:spPr>
          <a:xfrm>
            <a:off x="8097317" y="1371600"/>
            <a:ext cx="1658569" cy="3589314"/>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052354"/>
            <a:ext cx="1658569" cy="457200"/>
          </a:xfrm>
          <a:prstGeom prst="rect">
            <a:avLst/>
          </a:prstGeom>
          <a:noFill/>
          <a:ln/>
        </p:spPr>
        <p:txBody>
          <a:bodyPr wrap="square" lIns="0" tIns="0" rIns="0" bIns="0" rtlCol="0" anchor="t"/>
          <a:lstStyle/>
          <a:p>
            <a:pPr indent="0" marL="0">
              <a:buNone/>
            </a:pPr>
            <a:r>
              <a:rPr lang="en-US" sz="1100" dirty="0">
                <a:solidFill>
                  <a:srgbClr val="56625B"/>
                </a:solidFill>
              </a:rPr>
              <a:t>Allocation and the under-18 callout</a:t>
            </a:r>
            <a:endParaRPr lang="en-US" sz="1100" dirty="0"/>
          </a:p>
        </p:txBody>
      </p:sp>
      <p:pic>
        <p:nvPicPr>
          <p:cNvPr id="15" name="shot-6" descr="Web · any browser · 200% text: Toggles, checkboxes and navigation">    </p:cNvPr>
          <p:cNvPicPr>
            <a:picLocks noChangeAspect="1"/>
          </p:cNvPicPr>
          <p:nvPr/>
        </p:nvPicPr>
        <p:blipFill>
          <a:blip r:embed="rId6"/>
          <a:stretch>
            <a:fillRect/>
          </a:stretch>
        </p:blipFill>
        <p:spPr>
          <a:xfrm>
            <a:off x="9984486" y="1371600"/>
            <a:ext cx="1658569" cy="3589314"/>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052354"/>
            <a:ext cx="1658569" cy="457200"/>
          </a:xfrm>
          <a:prstGeom prst="rect">
            <a:avLst/>
          </a:prstGeom>
          <a:noFill/>
          <a:ln/>
        </p:spPr>
        <p:txBody>
          <a:bodyPr wrap="square" lIns="0" tIns="0" rIns="0" bIns="0" rtlCol="0" anchor="t"/>
          <a:lstStyle/>
          <a:p>
            <a:pPr indent="0" marL="0">
              <a:buNone/>
            </a:pPr>
            <a:r>
              <a:rPr lang="en-US" sz="1100" dirty="0">
                <a:solidFill>
                  <a:srgbClr val="56625B"/>
                </a:solidFill>
              </a:rPr>
              <a:t>Toggles, checkboxes and navigation</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WEB · ANY BROWSER · DESKTOP</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The same components on a desktop browser</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Chromium, 1280 × 900 · the back-office console is built from this component library too</a:t>
            </a:r>
            <a:endParaRPr lang="en-US" sz="1000" dirty="0"/>
          </a:p>
        </p:txBody>
      </p:sp>
      <p:pic>
        <p:nvPicPr>
          <p:cNvPr id="5" name="shot-1" descr="Web · any browser · desktop: Light">    </p:cNvPr>
          <p:cNvPicPr>
            <a:picLocks noChangeAspect="1"/>
          </p:cNvPicPr>
          <p:nvPr/>
        </p:nvPicPr>
        <p:blipFill>
          <a:blip r:embed="rId1"/>
          <a:stretch>
            <a:fillRect/>
          </a:stretch>
        </p:blipFill>
        <p:spPr>
          <a:xfrm>
            <a:off x="548640" y="1371600"/>
            <a:ext cx="5432908" cy="3820013"/>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283053"/>
            <a:ext cx="5432908" cy="457200"/>
          </a:xfrm>
          <a:prstGeom prst="rect">
            <a:avLst/>
          </a:prstGeom>
          <a:noFill/>
          <a:ln/>
        </p:spPr>
        <p:txBody>
          <a:bodyPr wrap="square" lIns="0" tIns="0" rIns="0" bIns="0" rtlCol="0" anchor="t"/>
          <a:lstStyle/>
          <a:p>
            <a:pPr indent="0" marL="0">
              <a:buNone/>
            </a:pPr>
            <a:r>
              <a:rPr lang="en-US" sz="1100" dirty="0">
                <a:solidFill>
                  <a:srgbClr val="B7C9BE"/>
                </a:solidFill>
              </a:rPr>
              <a:t>Light</a:t>
            </a:r>
            <a:endParaRPr lang="en-US" sz="1100" dirty="0"/>
          </a:p>
        </p:txBody>
      </p:sp>
      <p:pic>
        <p:nvPicPr>
          <p:cNvPr id="7" name="shot-2" descr="Web · any browser · desktop: Dark">    </p:cNvPr>
          <p:cNvPicPr>
            <a:picLocks noChangeAspect="1"/>
          </p:cNvPicPr>
          <p:nvPr/>
        </p:nvPicPr>
        <p:blipFill>
          <a:blip r:embed="rId2"/>
          <a:stretch>
            <a:fillRect/>
          </a:stretch>
        </p:blipFill>
        <p:spPr>
          <a:xfrm>
            <a:off x="6210148" y="1371600"/>
            <a:ext cx="5432908" cy="3820013"/>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6210148" y="5283053"/>
            <a:ext cx="5432908" cy="457200"/>
          </a:xfrm>
          <a:prstGeom prst="rect">
            <a:avLst/>
          </a:prstGeom>
          <a:noFill/>
          <a:ln/>
        </p:spPr>
        <p:txBody>
          <a:bodyPr wrap="square" lIns="0" tIns="0" rIns="0" bIns="0" rtlCol="0" anchor="t"/>
          <a:lstStyle/>
          <a:p>
            <a:pPr indent="0" marL="0">
              <a:buNone/>
            </a:pPr>
            <a:r>
              <a:rPr lang="en-US" sz="1100" dirty="0">
                <a:solidFill>
                  <a:srgbClr val="B7C9BE"/>
                </a:solidFill>
              </a:rPr>
              <a:t>Dark</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IOS · APP STORE · LIGHT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iPhone, screens 1–6 of 11</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Real app on the iPhone simulator (Xcode, GitHub macOS 15 runner) · XCUITest screenshots · iOS 18</a:t>
            </a:r>
            <a:endParaRPr lang="en-US" sz="1000" dirty="0"/>
          </a:p>
        </p:txBody>
      </p:sp>
      <p:pic>
        <p:nvPicPr>
          <p:cNvPr id="5" name="shot-1" descr="iOS · App Store · light: Header, theme and text-size controls, colours">    </p:cNvPr>
          <p:cNvPicPr>
            <a:picLocks noChangeAspect="1"/>
          </p:cNvPicPr>
          <p:nvPr/>
        </p:nvPicPr>
        <p:blipFill>
          <a:blip r:embed="rId1"/>
          <a:stretch>
            <a:fillRect/>
          </a:stretch>
        </p:blipFill>
        <p:spPr>
          <a:xfrm>
            <a:off x="548640" y="1371600"/>
            <a:ext cx="1658569" cy="3598252"/>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061292"/>
            <a:ext cx="1658569" cy="457200"/>
          </a:xfrm>
          <a:prstGeom prst="rect">
            <a:avLst/>
          </a:prstGeom>
          <a:noFill/>
          <a:ln/>
        </p:spPr>
        <p:txBody>
          <a:bodyPr wrap="square" lIns="0" tIns="0" rIns="0" bIns="0" rtlCol="0" anchor="t"/>
          <a:lstStyle/>
          <a:p>
            <a:pPr indent="0" marL="0">
              <a:buNone/>
            </a:pPr>
            <a:r>
              <a:rPr lang="en-US" sz="1100" dirty="0">
                <a:solidFill>
                  <a:srgbClr val="56625B"/>
                </a:solidFill>
              </a:rPr>
              <a:t>Header, theme and text-size controls, colours</a:t>
            </a:r>
            <a:endParaRPr lang="en-US" sz="1100" dirty="0"/>
          </a:p>
        </p:txBody>
      </p:sp>
      <p:pic>
        <p:nvPicPr>
          <p:cNvPr id="7" name="shot-2" descr="iOS · App Store · light: Colour tokens and type scale">    </p:cNvPr>
          <p:cNvPicPr>
            <a:picLocks noChangeAspect="1"/>
          </p:cNvPicPr>
          <p:nvPr/>
        </p:nvPicPr>
        <p:blipFill>
          <a:blip r:embed="rId2"/>
          <a:stretch>
            <a:fillRect/>
          </a:stretch>
        </p:blipFill>
        <p:spPr>
          <a:xfrm>
            <a:off x="2435809" y="1371600"/>
            <a:ext cx="1658569" cy="3598252"/>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061292"/>
            <a:ext cx="1658569" cy="457200"/>
          </a:xfrm>
          <a:prstGeom prst="rect">
            <a:avLst/>
          </a:prstGeom>
          <a:noFill/>
          <a:ln/>
        </p:spPr>
        <p:txBody>
          <a:bodyPr wrap="square" lIns="0" tIns="0" rIns="0" bIns="0" rtlCol="0" anchor="t"/>
          <a:lstStyle/>
          <a:p>
            <a:pPr indent="0" marL="0">
              <a:buNone/>
            </a:pPr>
            <a:r>
              <a:rPr lang="en-US" sz="1100" dirty="0">
                <a:solidFill>
                  <a:srgbClr val="56625B"/>
                </a:solidFill>
              </a:rPr>
              <a:t>Colour tokens and type scale</a:t>
            </a:r>
            <a:endParaRPr lang="en-US" sz="1100" dirty="0"/>
          </a:p>
        </p:txBody>
      </p:sp>
      <p:pic>
        <p:nvPicPr>
          <p:cNvPr id="9" name="shot-3" descr="iOS · App Store · light: Type scale and buttons">    </p:cNvPr>
          <p:cNvPicPr>
            <a:picLocks noChangeAspect="1"/>
          </p:cNvPicPr>
          <p:nvPr/>
        </p:nvPicPr>
        <p:blipFill>
          <a:blip r:embed="rId3"/>
          <a:stretch>
            <a:fillRect/>
          </a:stretch>
        </p:blipFill>
        <p:spPr>
          <a:xfrm>
            <a:off x="4322978"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061292"/>
            <a:ext cx="1658569" cy="457200"/>
          </a:xfrm>
          <a:prstGeom prst="rect">
            <a:avLst/>
          </a:prstGeom>
          <a:noFill/>
          <a:ln/>
        </p:spPr>
        <p:txBody>
          <a:bodyPr wrap="square" lIns="0" tIns="0" rIns="0" bIns="0" rtlCol="0" anchor="t"/>
          <a:lstStyle/>
          <a:p>
            <a:pPr indent="0" marL="0">
              <a:buNone/>
            </a:pPr>
            <a:r>
              <a:rPr lang="en-US" sz="1100" dirty="0">
                <a:solidFill>
                  <a:srgbClr val="56625B"/>
                </a:solidFill>
              </a:rPr>
              <a:t>Type scale and buttons</a:t>
            </a:r>
            <a:endParaRPr lang="en-US" sz="1100" dirty="0"/>
          </a:p>
        </p:txBody>
      </p:sp>
      <p:pic>
        <p:nvPicPr>
          <p:cNvPr id="11" name="shot-4" descr="iOS · App Store · light: Buttons, badges and evidence labels">    </p:cNvPr>
          <p:cNvPicPr>
            <a:picLocks noChangeAspect="1"/>
          </p:cNvPicPr>
          <p:nvPr/>
        </p:nvPicPr>
        <p:blipFill>
          <a:blip r:embed="rId4"/>
          <a:stretch>
            <a:fillRect/>
          </a:stretch>
        </p:blipFill>
        <p:spPr>
          <a:xfrm>
            <a:off x="6210148"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061292"/>
            <a:ext cx="1658569" cy="457200"/>
          </a:xfrm>
          <a:prstGeom prst="rect">
            <a:avLst/>
          </a:prstGeom>
          <a:noFill/>
          <a:ln/>
        </p:spPr>
        <p:txBody>
          <a:bodyPr wrap="square" lIns="0" tIns="0" rIns="0" bIns="0" rtlCol="0" anchor="t"/>
          <a:lstStyle/>
          <a:p>
            <a:pPr indent="0" marL="0">
              <a:buNone/>
            </a:pPr>
            <a:r>
              <a:rPr lang="en-US" sz="1100" dirty="0">
                <a:solidFill>
                  <a:srgbClr val="56625B"/>
                </a:solidFill>
              </a:rPr>
              <a:t>Buttons, badges and evidence labels</a:t>
            </a:r>
            <a:endParaRPr lang="en-US" sz="1100" dirty="0"/>
          </a:p>
        </p:txBody>
      </p:sp>
      <p:pic>
        <p:nvPicPr>
          <p:cNvPr id="13" name="shot-5" descr="iOS · App Store · light: Amounts, check-in banner, Legacy Score">    </p:cNvPr>
          <p:cNvPicPr>
            <a:picLocks noChangeAspect="1"/>
          </p:cNvPicPr>
          <p:nvPr/>
        </p:nvPicPr>
        <p:blipFill>
          <a:blip r:embed="rId5"/>
          <a:stretch>
            <a:fillRect/>
          </a:stretch>
        </p:blipFill>
        <p:spPr>
          <a:xfrm>
            <a:off x="8097317"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061292"/>
            <a:ext cx="1658569" cy="457200"/>
          </a:xfrm>
          <a:prstGeom prst="rect">
            <a:avLst/>
          </a:prstGeom>
          <a:noFill/>
          <a:ln/>
        </p:spPr>
        <p:txBody>
          <a:bodyPr wrap="square" lIns="0" tIns="0" rIns="0" bIns="0" rtlCol="0" anchor="t"/>
          <a:lstStyle/>
          <a:p>
            <a:pPr indent="0" marL="0">
              <a:buNone/>
            </a:pPr>
            <a:r>
              <a:rPr lang="en-US" sz="1100" dirty="0">
                <a:solidFill>
                  <a:srgbClr val="56625B"/>
                </a:solidFill>
              </a:rPr>
              <a:t>Amounts, check-in banner, Legacy Score</a:t>
            </a:r>
            <a:endParaRPr lang="en-US" sz="1100" dirty="0"/>
          </a:p>
        </p:txBody>
      </p:sp>
      <p:pic>
        <p:nvPicPr>
          <p:cNvPr id="15" name="shot-6" descr="iOS · App Store · light: Quick actions and list rows">    </p:cNvPr>
          <p:cNvPicPr>
            <a:picLocks noChangeAspect="1"/>
          </p:cNvPicPr>
          <p:nvPr/>
        </p:nvPicPr>
        <p:blipFill>
          <a:blip r:embed="rId6"/>
          <a:stretch>
            <a:fillRect/>
          </a:stretch>
        </p:blipFill>
        <p:spPr>
          <a:xfrm>
            <a:off x="9984486"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061292"/>
            <a:ext cx="1658569" cy="457200"/>
          </a:xfrm>
          <a:prstGeom prst="rect">
            <a:avLst/>
          </a:prstGeom>
          <a:noFill/>
          <a:ln/>
        </p:spPr>
        <p:txBody>
          <a:bodyPr wrap="square" lIns="0" tIns="0" rIns="0" bIns="0" rtlCol="0" anchor="t"/>
          <a:lstStyle/>
          <a:p>
            <a:pPr indent="0" marL="0">
              <a:buNone/>
            </a:pPr>
            <a:r>
              <a:rPr lang="en-US" sz="1100" dirty="0">
                <a:solidFill>
                  <a:srgbClr val="56625B"/>
                </a:solidFill>
              </a:rPr>
              <a:t>Quick actions and list rows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IOS · APP STORE · LIGHT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iPhone, screens 7–11 of 11</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Real app on the iPhone simulator (Xcode, GitHub macOS 15 runner) · XCUITest screenshots · iOS 18</a:t>
            </a:r>
            <a:endParaRPr lang="en-US" sz="1000" dirty="0"/>
          </a:p>
        </p:txBody>
      </p:sp>
      <p:pic>
        <p:nvPicPr>
          <p:cNvPr id="5" name="shot-1" descr="iOS · App Store · light: People rows, progress, text fields">    </p:cNvPr>
          <p:cNvPicPr>
            <a:picLocks noChangeAspect="1"/>
          </p:cNvPicPr>
          <p:nvPr/>
        </p:nvPicPr>
        <p:blipFill>
          <a:blip r:embed="rId1"/>
          <a:stretch>
            <a:fillRect/>
          </a:stretch>
        </p:blipFill>
        <p:spPr>
          <a:xfrm>
            <a:off x="548640" y="1371600"/>
            <a:ext cx="2036003" cy="441709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880131"/>
            <a:ext cx="2036003" cy="457200"/>
          </a:xfrm>
          <a:prstGeom prst="rect">
            <a:avLst/>
          </a:prstGeom>
          <a:noFill/>
          <a:ln/>
        </p:spPr>
        <p:txBody>
          <a:bodyPr wrap="square" lIns="0" tIns="0" rIns="0" bIns="0" rtlCol="0" anchor="t"/>
          <a:lstStyle/>
          <a:p>
            <a:pPr indent="0" marL="0">
              <a:buNone/>
            </a:pPr>
            <a:r>
              <a:rPr lang="en-US" sz="1100" dirty="0">
                <a:solidFill>
                  <a:srgbClr val="56625B"/>
                </a:solidFill>
              </a:rPr>
              <a:t>People rows, progress, text fields</a:t>
            </a:r>
            <a:endParaRPr lang="en-US" sz="1100" dirty="0"/>
          </a:p>
        </p:txBody>
      </p:sp>
      <p:pic>
        <p:nvPicPr>
          <p:cNvPr id="7" name="shot-2" descr="iOS · App Store · light: Validation and share allocation">    </p:cNvPr>
          <p:cNvPicPr>
            <a:picLocks noChangeAspect="1"/>
          </p:cNvPicPr>
          <p:nvPr/>
        </p:nvPicPr>
        <p:blipFill>
          <a:blip r:embed="rId2"/>
          <a:stretch>
            <a:fillRect/>
          </a:stretch>
        </p:blipFill>
        <p:spPr>
          <a:xfrm>
            <a:off x="2813243" y="1371600"/>
            <a:ext cx="2036003" cy="441709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813243" y="5880131"/>
            <a:ext cx="2036003" cy="457200"/>
          </a:xfrm>
          <a:prstGeom prst="rect">
            <a:avLst/>
          </a:prstGeom>
          <a:noFill/>
          <a:ln/>
        </p:spPr>
        <p:txBody>
          <a:bodyPr wrap="square" lIns="0" tIns="0" rIns="0" bIns="0" rtlCol="0" anchor="t"/>
          <a:lstStyle/>
          <a:p>
            <a:pPr indent="0" marL="0">
              <a:buNone/>
            </a:pPr>
            <a:r>
              <a:rPr lang="en-US" sz="1100" dirty="0">
                <a:solidFill>
                  <a:srgbClr val="56625B"/>
                </a:solidFill>
              </a:rPr>
              <a:t>Validation and share allocation</a:t>
            </a:r>
            <a:endParaRPr lang="en-US" sz="1100" dirty="0"/>
          </a:p>
        </p:txBody>
      </p:sp>
      <p:pic>
        <p:nvPicPr>
          <p:cNvPr id="9" name="shot-3" descr="iOS · App Store · light: Callouts and marital-regime choices">    </p:cNvPr>
          <p:cNvPicPr>
            <a:picLocks noChangeAspect="1"/>
          </p:cNvPicPr>
          <p:nvPr/>
        </p:nvPicPr>
        <p:blipFill>
          <a:blip r:embed="rId3"/>
          <a:stretch>
            <a:fillRect/>
          </a:stretch>
        </p:blipFill>
        <p:spPr>
          <a:xfrm>
            <a:off x="5077846" y="1371600"/>
            <a:ext cx="2036003" cy="441709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5077846" y="5880131"/>
            <a:ext cx="2036003" cy="457200"/>
          </a:xfrm>
          <a:prstGeom prst="rect">
            <a:avLst/>
          </a:prstGeom>
          <a:noFill/>
          <a:ln/>
        </p:spPr>
        <p:txBody>
          <a:bodyPr wrap="square" lIns="0" tIns="0" rIns="0" bIns="0" rtlCol="0" anchor="t"/>
          <a:lstStyle/>
          <a:p>
            <a:pPr indent="0" marL="0">
              <a:buNone/>
            </a:pPr>
            <a:r>
              <a:rPr lang="en-US" sz="1100" dirty="0">
                <a:solidFill>
                  <a:srgbClr val="56625B"/>
                </a:solidFill>
              </a:rPr>
              <a:t>Callouts and marital-regime choices</a:t>
            </a:r>
            <a:endParaRPr lang="en-US" sz="1100" dirty="0"/>
          </a:p>
        </p:txBody>
      </p:sp>
      <p:pic>
        <p:nvPicPr>
          <p:cNvPr id="11" name="shot-4" descr="iOS · App Store · light: Segmented controls and toggles">    </p:cNvPr>
          <p:cNvPicPr>
            <a:picLocks noChangeAspect="1"/>
          </p:cNvPicPr>
          <p:nvPr/>
        </p:nvPicPr>
        <p:blipFill>
          <a:blip r:embed="rId4"/>
          <a:stretch>
            <a:fillRect/>
          </a:stretch>
        </p:blipFill>
        <p:spPr>
          <a:xfrm>
            <a:off x="7342449" y="1371600"/>
            <a:ext cx="2036003" cy="441709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7342449" y="5880131"/>
            <a:ext cx="2036003" cy="457200"/>
          </a:xfrm>
          <a:prstGeom prst="rect">
            <a:avLst/>
          </a:prstGeom>
          <a:noFill/>
          <a:ln/>
        </p:spPr>
        <p:txBody>
          <a:bodyPr wrap="square" lIns="0" tIns="0" rIns="0" bIns="0" rtlCol="0" anchor="t"/>
          <a:lstStyle/>
          <a:p>
            <a:pPr indent="0" marL="0">
              <a:buNone/>
            </a:pPr>
            <a:r>
              <a:rPr lang="en-US" sz="1100" dirty="0">
                <a:solidFill>
                  <a:srgbClr val="56625B"/>
                </a:solidFill>
              </a:rPr>
              <a:t>Segmented controls and toggles</a:t>
            </a:r>
            <a:endParaRPr lang="en-US" sz="1100" dirty="0"/>
          </a:p>
        </p:txBody>
      </p:sp>
      <p:pic>
        <p:nvPicPr>
          <p:cNvPr id="13" name="shot-5" descr="iOS · App Store · light: Checkboxes, navigation, disclosures">    </p:cNvPr>
          <p:cNvPicPr>
            <a:picLocks noChangeAspect="1"/>
          </p:cNvPicPr>
          <p:nvPr/>
        </p:nvPicPr>
        <p:blipFill>
          <a:blip r:embed="rId5"/>
          <a:stretch>
            <a:fillRect/>
          </a:stretch>
        </p:blipFill>
        <p:spPr>
          <a:xfrm>
            <a:off x="9607052" y="1371600"/>
            <a:ext cx="2036003" cy="441709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9607052" y="5880131"/>
            <a:ext cx="2036003" cy="457200"/>
          </a:xfrm>
          <a:prstGeom prst="rect">
            <a:avLst/>
          </a:prstGeom>
          <a:noFill/>
          <a:ln/>
        </p:spPr>
        <p:txBody>
          <a:bodyPr wrap="square" lIns="0" tIns="0" rIns="0" bIns="0" rtlCol="0" anchor="t"/>
          <a:lstStyle/>
          <a:p>
            <a:pPr indent="0" marL="0">
              <a:buNone/>
            </a:pPr>
            <a:r>
              <a:rPr lang="en-US" sz="1100" dirty="0">
                <a:solidFill>
                  <a:srgbClr val="56625B"/>
                </a:solidFill>
              </a:rPr>
              <a:t>Checkboxes,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IOS · APP STORE · DARK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iPhone, screens 1–6 of 11</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Real app on the iPhone simulator (Xcode, GitHub macOS 15 runner) · XCUITest screenshots · iOS 18 · dark mode</a:t>
            </a:r>
            <a:endParaRPr lang="en-US" sz="1000" dirty="0"/>
          </a:p>
        </p:txBody>
      </p:sp>
      <p:pic>
        <p:nvPicPr>
          <p:cNvPr id="5" name="shot-1" descr="iOS · App Store · dark: Header, theme and text-size controls, colours">    </p:cNvPr>
          <p:cNvPicPr>
            <a:picLocks noChangeAspect="1"/>
          </p:cNvPicPr>
          <p:nvPr/>
        </p:nvPicPr>
        <p:blipFill>
          <a:blip r:embed="rId1"/>
          <a:stretch>
            <a:fillRect/>
          </a:stretch>
        </p:blipFill>
        <p:spPr>
          <a:xfrm>
            <a:off x="548640" y="1371600"/>
            <a:ext cx="1658569" cy="3598252"/>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Header, theme and text-size controls, colours</a:t>
            </a:r>
            <a:endParaRPr lang="en-US" sz="1100" dirty="0"/>
          </a:p>
        </p:txBody>
      </p:sp>
      <p:pic>
        <p:nvPicPr>
          <p:cNvPr id="7" name="shot-2" descr="iOS · App Store · dark: Colour tokens and type scale">    </p:cNvPr>
          <p:cNvPicPr>
            <a:picLocks noChangeAspect="1"/>
          </p:cNvPicPr>
          <p:nvPr/>
        </p:nvPicPr>
        <p:blipFill>
          <a:blip r:embed="rId2"/>
          <a:stretch>
            <a:fillRect/>
          </a:stretch>
        </p:blipFill>
        <p:spPr>
          <a:xfrm>
            <a:off x="2435809" y="1371600"/>
            <a:ext cx="1658569" cy="3598252"/>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Colour tokens and type scale</a:t>
            </a:r>
            <a:endParaRPr lang="en-US" sz="1100" dirty="0"/>
          </a:p>
        </p:txBody>
      </p:sp>
      <p:pic>
        <p:nvPicPr>
          <p:cNvPr id="9" name="shot-3" descr="iOS · App Store · dark: Type scale and buttons">    </p:cNvPr>
          <p:cNvPicPr>
            <a:picLocks noChangeAspect="1"/>
          </p:cNvPicPr>
          <p:nvPr/>
        </p:nvPicPr>
        <p:blipFill>
          <a:blip r:embed="rId3"/>
          <a:stretch>
            <a:fillRect/>
          </a:stretch>
        </p:blipFill>
        <p:spPr>
          <a:xfrm>
            <a:off x="4322978"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Type scale and buttons</a:t>
            </a:r>
            <a:endParaRPr lang="en-US" sz="1100" dirty="0"/>
          </a:p>
        </p:txBody>
      </p:sp>
      <p:pic>
        <p:nvPicPr>
          <p:cNvPr id="11" name="shot-4" descr="iOS · App Store · dark: Buttons, badges and evidence labels">    </p:cNvPr>
          <p:cNvPicPr>
            <a:picLocks noChangeAspect="1"/>
          </p:cNvPicPr>
          <p:nvPr/>
        </p:nvPicPr>
        <p:blipFill>
          <a:blip r:embed="rId4"/>
          <a:stretch>
            <a:fillRect/>
          </a:stretch>
        </p:blipFill>
        <p:spPr>
          <a:xfrm>
            <a:off x="6210148"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Buttons, badges and evidence labels</a:t>
            </a:r>
            <a:endParaRPr lang="en-US" sz="1100" dirty="0"/>
          </a:p>
        </p:txBody>
      </p:sp>
      <p:pic>
        <p:nvPicPr>
          <p:cNvPr id="13" name="shot-5" descr="iOS · App Store · dark: Amounts, check-in banner, Legacy Score">    </p:cNvPr>
          <p:cNvPicPr>
            <a:picLocks noChangeAspect="1"/>
          </p:cNvPicPr>
          <p:nvPr/>
        </p:nvPicPr>
        <p:blipFill>
          <a:blip r:embed="rId5"/>
          <a:stretch>
            <a:fillRect/>
          </a:stretch>
        </p:blipFill>
        <p:spPr>
          <a:xfrm>
            <a:off x="8097317"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Amounts, check-in banner, Legacy Score</a:t>
            </a:r>
            <a:endParaRPr lang="en-US" sz="1100" dirty="0"/>
          </a:p>
        </p:txBody>
      </p:sp>
      <p:pic>
        <p:nvPicPr>
          <p:cNvPr id="15" name="shot-6" descr="iOS · App Store · dark: Quick actions and list rows">    </p:cNvPr>
          <p:cNvPicPr>
            <a:picLocks noChangeAspect="1"/>
          </p:cNvPicPr>
          <p:nvPr/>
        </p:nvPicPr>
        <p:blipFill>
          <a:blip r:embed="rId6"/>
          <a:stretch>
            <a:fillRect/>
          </a:stretch>
        </p:blipFill>
        <p:spPr>
          <a:xfrm>
            <a:off x="9984486"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Quick actions and list rows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IOS · APP STORE · DARK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iPhone, screens 7–11 of 11</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Real app on the iPhone simulator (Xcode, GitHub macOS 15 runner) · XCUITest screenshots · iOS 18 · dark mode</a:t>
            </a:r>
            <a:endParaRPr lang="en-US" sz="1000" dirty="0"/>
          </a:p>
        </p:txBody>
      </p:sp>
      <p:pic>
        <p:nvPicPr>
          <p:cNvPr id="5" name="shot-1" descr="iOS · App Store · dark: People rows, progress, text fields">    </p:cNvPr>
          <p:cNvPicPr>
            <a:picLocks noChangeAspect="1"/>
          </p:cNvPicPr>
          <p:nvPr/>
        </p:nvPicPr>
        <p:blipFill>
          <a:blip r:embed="rId1"/>
          <a:stretch>
            <a:fillRect/>
          </a:stretch>
        </p:blipFill>
        <p:spPr>
          <a:xfrm>
            <a:off x="548640" y="1371600"/>
            <a:ext cx="2036003" cy="441709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880131"/>
            <a:ext cx="2036003" cy="457200"/>
          </a:xfrm>
          <a:prstGeom prst="rect">
            <a:avLst/>
          </a:prstGeom>
          <a:noFill/>
          <a:ln/>
        </p:spPr>
        <p:txBody>
          <a:bodyPr wrap="square" lIns="0" tIns="0" rIns="0" bIns="0" rtlCol="0" anchor="t"/>
          <a:lstStyle/>
          <a:p>
            <a:pPr indent="0" marL="0">
              <a:buNone/>
            </a:pPr>
            <a:r>
              <a:rPr lang="en-US" sz="1100" dirty="0">
                <a:solidFill>
                  <a:srgbClr val="B7C9BE"/>
                </a:solidFill>
              </a:rPr>
              <a:t>People rows, progress, text fields</a:t>
            </a:r>
            <a:endParaRPr lang="en-US" sz="1100" dirty="0"/>
          </a:p>
        </p:txBody>
      </p:sp>
      <p:pic>
        <p:nvPicPr>
          <p:cNvPr id="7" name="shot-2" descr="iOS · App Store · dark: Validation and share allocation">    </p:cNvPr>
          <p:cNvPicPr>
            <a:picLocks noChangeAspect="1"/>
          </p:cNvPicPr>
          <p:nvPr/>
        </p:nvPicPr>
        <p:blipFill>
          <a:blip r:embed="rId2"/>
          <a:stretch>
            <a:fillRect/>
          </a:stretch>
        </p:blipFill>
        <p:spPr>
          <a:xfrm>
            <a:off x="2813243" y="1371600"/>
            <a:ext cx="2036003" cy="441709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813243" y="5880131"/>
            <a:ext cx="2036003" cy="457200"/>
          </a:xfrm>
          <a:prstGeom prst="rect">
            <a:avLst/>
          </a:prstGeom>
          <a:noFill/>
          <a:ln/>
        </p:spPr>
        <p:txBody>
          <a:bodyPr wrap="square" lIns="0" tIns="0" rIns="0" bIns="0" rtlCol="0" anchor="t"/>
          <a:lstStyle/>
          <a:p>
            <a:pPr indent="0" marL="0">
              <a:buNone/>
            </a:pPr>
            <a:r>
              <a:rPr lang="en-US" sz="1100" dirty="0">
                <a:solidFill>
                  <a:srgbClr val="B7C9BE"/>
                </a:solidFill>
              </a:rPr>
              <a:t>Validation and share allocation</a:t>
            </a:r>
            <a:endParaRPr lang="en-US" sz="1100" dirty="0"/>
          </a:p>
        </p:txBody>
      </p:sp>
      <p:pic>
        <p:nvPicPr>
          <p:cNvPr id="9" name="shot-3" descr="iOS · App Store · dark: Callouts and marital-regime choices">    </p:cNvPr>
          <p:cNvPicPr>
            <a:picLocks noChangeAspect="1"/>
          </p:cNvPicPr>
          <p:nvPr/>
        </p:nvPicPr>
        <p:blipFill>
          <a:blip r:embed="rId3"/>
          <a:stretch>
            <a:fillRect/>
          </a:stretch>
        </p:blipFill>
        <p:spPr>
          <a:xfrm>
            <a:off x="5077846" y="1371600"/>
            <a:ext cx="2036003" cy="441709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5077846" y="5880131"/>
            <a:ext cx="2036003" cy="457200"/>
          </a:xfrm>
          <a:prstGeom prst="rect">
            <a:avLst/>
          </a:prstGeom>
          <a:noFill/>
          <a:ln/>
        </p:spPr>
        <p:txBody>
          <a:bodyPr wrap="square" lIns="0" tIns="0" rIns="0" bIns="0" rtlCol="0" anchor="t"/>
          <a:lstStyle/>
          <a:p>
            <a:pPr indent="0" marL="0">
              <a:buNone/>
            </a:pPr>
            <a:r>
              <a:rPr lang="en-US" sz="1100" dirty="0">
                <a:solidFill>
                  <a:srgbClr val="B7C9BE"/>
                </a:solidFill>
              </a:rPr>
              <a:t>Callouts and marital-regime choices</a:t>
            </a:r>
            <a:endParaRPr lang="en-US" sz="1100" dirty="0"/>
          </a:p>
        </p:txBody>
      </p:sp>
      <p:pic>
        <p:nvPicPr>
          <p:cNvPr id="11" name="shot-4" descr="iOS · App Store · dark: Segmented controls and toggles">    </p:cNvPr>
          <p:cNvPicPr>
            <a:picLocks noChangeAspect="1"/>
          </p:cNvPicPr>
          <p:nvPr/>
        </p:nvPicPr>
        <p:blipFill>
          <a:blip r:embed="rId4"/>
          <a:stretch>
            <a:fillRect/>
          </a:stretch>
        </p:blipFill>
        <p:spPr>
          <a:xfrm>
            <a:off x="7342449" y="1371600"/>
            <a:ext cx="2036003" cy="441709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7342449" y="5880131"/>
            <a:ext cx="2036003" cy="457200"/>
          </a:xfrm>
          <a:prstGeom prst="rect">
            <a:avLst/>
          </a:prstGeom>
          <a:noFill/>
          <a:ln/>
        </p:spPr>
        <p:txBody>
          <a:bodyPr wrap="square" lIns="0" tIns="0" rIns="0" bIns="0" rtlCol="0" anchor="t"/>
          <a:lstStyle/>
          <a:p>
            <a:pPr indent="0" marL="0">
              <a:buNone/>
            </a:pPr>
            <a:r>
              <a:rPr lang="en-US" sz="1100" dirty="0">
                <a:solidFill>
                  <a:srgbClr val="B7C9BE"/>
                </a:solidFill>
              </a:rPr>
              <a:t>Segmented controls and toggles</a:t>
            </a:r>
            <a:endParaRPr lang="en-US" sz="1100" dirty="0"/>
          </a:p>
        </p:txBody>
      </p:sp>
      <p:pic>
        <p:nvPicPr>
          <p:cNvPr id="13" name="shot-5" descr="iOS · App Store · dark: Checkboxes, navigation, disclosures">    </p:cNvPr>
          <p:cNvPicPr>
            <a:picLocks noChangeAspect="1"/>
          </p:cNvPicPr>
          <p:nvPr/>
        </p:nvPicPr>
        <p:blipFill>
          <a:blip r:embed="rId5"/>
          <a:stretch>
            <a:fillRect/>
          </a:stretch>
        </p:blipFill>
        <p:spPr>
          <a:xfrm>
            <a:off x="9607052" y="1371600"/>
            <a:ext cx="2036003" cy="441709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9607052" y="5880131"/>
            <a:ext cx="2036003" cy="457200"/>
          </a:xfrm>
          <a:prstGeom prst="rect">
            <a:avLst/>
          </a:prstGeom>
          <a:noFill/>
          <a:ln/>
        </p:spPr>
        <p:txBody>
          <a:bodyPr wrap="square" lIns="0" tIns="0" rIns="0" bIns="0" rtlCol="0" anchor="t"/>
          <a:lstStyle/>
          <a:p>
            <a:pPr indent="0" marL="0">
              <a:buNone/>
            </a:pPr>
            <a:r>
              <a:rPr lang="en-US" sz="1100" dirty="0">
                <a:solidFill>
                  <a:srgbClr val="B7C9BE"/>
                </a:solidFill>
              </a:rPr>
              <a:t>Checkboxes,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IOS · APP STORE · LARGEST ACCESSIBILITY TEXT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Largest text size: layouts adapt instead of breaking words</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6 of 36 screens at the system’s largest text size (Accessibility XXXL), dark mode · fixed after screenshots showed words breaking mid-word</a:t>
            </a:r>
            <a:endParaRPr lang="en-US" sz="1000" dirty="0"/>
          </a:p>
        </p:txBody>
      </p:sp>
      <p:pic>
        <p:nvPicPr>
          <p:cNvPr id="5" name="shot-1" descr="iOS · App Store · largest accessibility text: Header and controls wrap">    </p:cNvPr>
          <p:cNvPicPr>
            <a:picLocks noChangeAspect="1"/>
          </p:cNvPicPr>
          <p:nvPr/>
        </p:nvPicPr>
        <p:blipFill>
          <a:blip r:embed="rId1"/>
          <a:stretch>
            <a:fillRect/>
          </a:stretch>
        </p:blipFill>
        <p:spPr>
          <a:xfrm>
            <a:off x="548640" y="1371600"/>
            <a:ext cx="1658569" cy="3598252"/>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Header and controls wrap</a:t>
            </a:r>
            <a:endParaRPr lang="en-US" sz="1100" dirty="0"/>
          </a:p>
        </p:txBody>
      </p:sp>
      <p:pic>
        <p:nvPicPr>
          <p:cNvPr id="7" name="shot-2" descr="iOS · App Store · largest accessibility text: Buttons stack in a column">    </p:cNvPr>
          <p:cNvPicPr>
            <a:picLocks noChangeAspect="1"/>
          </p:cNvPicPr>
          <p:nvPr/>
        </p:nvPicPr>
        <p:blipFill>
          <a:blip r:embed="rId2"/>
          <a:stretch>
            <a:fillRect/>
          </a:stretch>
        </p:blipFill>
        <p:spPr>
          <a:xfrm>
            <a:off x="2435809" y="1371600"/>
            <a:ext cx="1658569" cy="3598252"/>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Buttons stack in a column</a:t>
            </a:r>
            <a:endParaRPr lang="en-US" sz="1100" dirty="0"/>
          </a:p>
        </p:txBody>
      </p:sp>
      <p:pic>
        <p:nvPicPr>
          <p:cNvPr id="9" name="shot-3" descr="iOS · App Store · largest accessibility text: Badges and amounts wrap">    </p:cNvPr>
          <p:cNvPicPr>
            <a:picLocks noChangeAspect="1"/>
          </p:cNvPicPr>
          <p:nvPr/>
        </p:nvPicPr>
        <p:blipFill>
          <a:blip r:embed="rId3"/>
          <a:stretch>
            <a:fillRect/>
          </a:stretch>
        </p:blipFill>
        <p:spPr>
          <a:xfrm>
            <a:off x="4322978"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Badges and amounts wrap</a:t>
            </a:r>
            <a:endParaRPr lang="en-US" sz="1100" dirty="0"/>
          </a:p>
        </p:txBody>
      </p:sp>
      <p:pic>
        <p:nvPicPr>
          <p:cNvPr id="11" name="shot-4" descr="iOS · App Store · largest accessibility text: Quick actions become full-width rows">    </p:cNvPr>
          <p:cNvPicPr>
            <a:picLocks noChangeAspect="1"/>
          </p:cNvPicPr>
          <p:nvPr/>
        </p:nvPicPr>
        <p:blipFill>
          <a:blip r:embed="rId4"/>
          <a:stretch>
            <a:fillRect/>
          </a:stretch>
        </p:blipFill>
        <p:spPr>
          <a:xfrm>
            <a:off x="6210148"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Quick actions become full-width rows</a:t>
            </a:r>
            <a:endParaRPr lang="en-US" sz="1100" dirty="0"/>
          </a:p>
        </p:txBody>
      </p:sp>
      <p:pic>
        <p:nvPicPr>
          <p:cNvPr id="13" name="shot-5" descr="iOS · App Store · largest accessibility text: Share fields widen with the text">    </p:cNvPr>
          <p:cNvPicPr>
            <a:picLocks noChangeAspect="1"/>
          </p:cNvPicPr>
          <p:nvPr/>
        </p:nvPicPr>
        <p:blipFill>
          <a:blip r:embed="rId5"/>
          <a:stretch>
            <a:fillRect/>
          </a:stretch>
        </p:blipFill>
        <p:spPr>
          <a:xfrm>
            <a:off x="8097317"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Share fields widen with the text</a:t>
            </a:r>
            <a:endParaRPr lang="en-US" sz="1100" dirty="0"/>
          </a:p>
        </p:txBody>
      </p:sp>
      <p:pic>
        <p:nvPicPr>
          <p:cNvPr id="15" name="shot-6" descr="iOS · App Store · largest accessibility text: Tab bar: icons only, long-press shows the label">    </p:cNvPr>
          <p:cNvPicPr>
            <a:picLocks noChangeAspect="1"/>
          </p:cNvPicPr>
          <p:nvPr/>
        </p:nvPicPr>
        <p:blipFill>
          <a:blip r:embed="rId6"/>
          <a:stretch>
            <a:fillRect/>
          </a:stretch>
        </p:blipFill>
        <p:spPr>
          <a:xfrm>
            <a:off x="9984486" y="1371600"/>
            <a:ext cx="1658569" cy="3598252"/>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061292"/>
            <a:ext cx="1658569" cy="457200"/>
          </a:xfrm>
          <a:prstGeom prst="rect">
            <a:avLst/>
          </a:prstGeom>
          <a:noFill/>
          <a:ln/>
        </p:spPr>
        <p:txBody>
          <a:bodyPr wrap="square" lIns="0" tIns="0" rIns="0" bIns="0" rtlCol="0" anchor="t"/>
          <a:lstStyle/>
          <a:p>
            <a:pPr indent="0" marL="0">
              <a:buNone/>
            </a:pPr>
            <a:r>
              <a:rPr lang="en-US" sz="1100" dirty="0">
                <a:solidFill>
                  <a:srgbClr val="B7C9BE"/>
                </a:solidFill>
              </a:rPr>
              <a:t>Tab bar: icons only, long-press shows the label</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ANDROID · GOOGLE PLAY · LIGHT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The Google Play build, all six screens</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Real MainActivity of the gms build · Robolectric 4.17 + Roborazzi 1.76.0 on GitHub Actions · 411 × 914 dp, xxhdpi</a:t>
            </a:r>
            <a:endParaRPr lang="en-US" sz="1000" dirty="0"/>
          </a:p>
        </p:txBody>
      </p:sp>
      <p:pic>
        <p:nvPicPr>
          <p:cNvPr id="5" name="shot-1" descr="Android · Google Play · light: Header, store label, colour tokens">    </p:cNvPr>
          <p:cNvPicPr>
            <a:picLocks noChangeAspect="1"/>
          </p:cNvPicPr>
          <p:nvPr/>
        </p:nvPicPr>
        <p:blipFill>
          <a:blip r:embed="rId1"/>
          <a:stretch>
            <a:fillRect/>
          </a:stretch>
        </p:blipFill>
        <p:spPr>
          <a:xfrm>
            <a:off x="548640" y="1371600"/>
            <a:ext cx="1658569" cy="368541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Header, store label, colour tokens</a:t>
            </a:r>
            <a:endParaRPr lang="en-US" sz="1100" dirty="0"/>
          </a:p>
        </p:txBody>
      </p:sp>
      <p:pic>
        <p:nvPicPr>
          <p:cNvPr id="7" name="shot-2" descr="Android · Google Play · light: Type scale and buttons">    </p:cNvPr>
          <p:cNvPicPr>
            <a:picLocks noChangeAspect="1"/>
          </p:cNvPicPr>
          <p:nvPr/>
        </p:nvPicPr>
        <p:blipFill>
          <a:blip r:embed="rId2"/>
          <a:stretch>
            <a:fillRect/>
          </a:stretch>
        </p:blipFill>
        <p:spPr>
          <a:xfrm>
            <a:off x="2435809" y="1371600"/>
            <a:ext cx="1658569" cy="368541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Type scale and buttons</a:t>
            </a:r>
            <a:endParaRPr lang="en-US" sz="1100" dirty="0"/>
          </a:p>
        </p:txBody>
      </p:sp>
      <p:pic>
        <p:nvPicPr>
          <p:cNvPr id="9" name="shot-3" descr="Android · Google Play · light: Badges, amounts, check-in banner, Legacy Score">    </p:cNvPr>
          <p:cNvPicPr>
            <a:picLocks noChangeAspect="1"/>
          </p:cNvPicPr>
          <p:nvPr/>
        </p:nvPicPr>
        <p:blipFill>
          <a:blip r:embed="rId3"/>
          <a:stretch>
            <a:fillRect/>
          </a:stretch>
        </p:blipFill>
        <p:spPr>
          <a:xfrm>
            <a:off x="432297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Badges, amounts, check-in banner, Legacy Score</a:t>
            </a:r>
            <a:endParaRPr lang="en-US" sz="1100" dirty="0"/>
          </a:p>
        </p:txBody>
      </p:sp>
      <p:pic>
        <p:nvPicPr>
          <p:cNvPr id="11" name="shot-4" descr="Android · Google Play · light: List rows, progress, text fields">    </p:cNvPr>
          <p:cNvPicPr>
            <a:picLocks noChangeAspect="1"/>
          </p:cNvPicPr>
          <p:nvPr/>
        </p:nvPicPr>
        <p:blipFill>
          <a:blip r:embed="rId4"/>
          <a:stretch>
            <a:fillRect/>
          </a:stretch>
        </p:blipFill>
        <p:spPr>
          <a:xfrm>
            <a:off x="621014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List rows, progress, text fields</a:t>
            </a:r>
            <a:endParaRPr lang="en-US" sz="1100" dirty="0"/>
          </a:p>
        </p:txBody>
      </p:sp>
      <p:pic>
        <p:nvPicPr>
          <p:cNvPr id="13" name="shot-5" descr="Android · Google Play · light: Validation, allocation, callouts">    </p:cNvPr>
          <p:cNvPicPr>
            <a:picLocks noChangeAspect="1"/>
          </p:cNvPicPr>
          <p:nvPr/>
        </p:nvPicPr>
        <p:blipFill>
          <a:blip r:embed="rId5"/>
          <a:stretch>
            <a:fillRect/>
          </a:stretch>
        </p:blipFill>
        <p:spPr>
          <a:xfrm>
            <a:off x="8097317"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Validation, allocation, callouts</a:t>
            </a:r>
            <a:endParaRPr lang="en-US" sz="1100" dirty="0"/>
          </a:p>
        </p:txBody>
      </p:sp>
      <p:pic>
        <p:nvPicPr>
          <p:cNvPr id="15" name="shot-6" descr="Android · Google Play · light: Choices, toggles, navigation, disclosures">    </p:cNvPr>
          <p:cNvPicPr>
            <a:picLocks noChangeAspect="1"/>
          </p:cNvPicPr>
          <p:nvPr/>
        </p:nvPicPr>
        <p:blipFill>
          <a:blip r:embed="rId6"/>
          <a:stretch>
            <a:fillRect/>
          </a:stretch>
        </p:blipFill>
        <p:spPr>
          <a:xfrm>
            <a:off x="9984486"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Choices, toggles,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ANDROID · GOOGLE PLAY · DARK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Same build with the phone in dark mode</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Real MainActivity of the gms build · Robolectric 4.17 + Roborazzi 1.76.0 on GitHub Actions · 411 × 914 dp, xxhdpi · system night mode</a:t>
            </a:r>
            <a:endParaRPr lang="en-US" sz="1000" dirty="0"/>
          </a:p>
        </p:txBody>
      </p:sp>
      <p:pic>
        <p:nvPicPr>
          <p:cNvPr id="5" name="shot-1" descr="Android · Google Play · dark: Header, store label, colour tokens">    </p:cNvPr>
          <p:cNvPicPr>
            <a:picLocks noChangeAspect="1"/>
          </p:cNvPicPr>
          <p:nvPr/>
        </p:nvPicPr>
        <p:blipFill>
          <a:blip r:embed="rId1"/>
          <a:stretch>
            <a:fillRect/>
          </a:stretch>
        </p:blipFill>
        <p:spPr>
          <a:xfrm>
            <a:off x="548640" y="1371600"/>
            <a:ext cx="1658569" cy="368541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Header, store label, colour tokens</a:t>
            </a:r>
            <a:endParaRPr lang="en-US" sz="1100" dirty="0"/>
          </a:p>
        </p:txBody>
      </p:sp>
      <p:pic>
        <p:nvPicPr>
          <p:cNvPr id="7" name="shot-2" descr="Android · Google Play · dark: Type scale and buttons">    </p:cNvPr>
          <p:cNvPicPr>
            <a:picLocks noChangeAspect="1"/>
          </p:cNvPicPr>
          <p:nvPr/>
        </p:nvPicPr>
        <p:blipFill>
          <a:blip r:embed="rId2"/>
          <a:stretch>
            <a:fillRect/>
          </a:stretch>
        </p:blipFill>
        <p:spPr>
          <a:xfrm>
            <a:off x="2435809" y="1371600"/>
            <a:ext cx="1658569" cy="368541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Type scale and buttons</a:t>
            </a:r>
            <a:endParaRPr lang="en-US" sz="1100" dirty="0"/>
          </a:p>
        </p:txBody>
      </p:sp>
      <p:pic>
        <p:nvPicPr>
          <p:cNvPr id="9" name="shot-3" descr="Android · Google Play · dark: Badges, amounts, check-in banner, Legacy Score">    </p:cNvPr>
          <p:cNvPicPr>
            <a:picLocks noChangeAspect="1"/>
          </p:cNvPicPr>
          <p:nvPr/>
        </p:nvPicPr>
        <p:blipFill>
          <a:blip r:embed="rId3"/>
          <a:stretch>
            <a:fillRect/>
          </a:stretch>
        </p:blipFill>
        <p:spPr>
          <a:xfrm>
            <a:off x="432297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Badges, amounts, check-in banner, Legacy Score</a:t>
            </a:r>
            <a:endParaRPr lang="en-US" sz="1100" dirty="0"/>
          </a:p>
        </p:txBody>
      </p:sp>
      <p:pic>
        <p:nvPicPr>
          <p:cNvPr id="11" name="shot-4" descr="Android · Google Play · dark: List rows, progress, text fields">    </p:cNvPr>
          <p:cNvPicPr>
            <a:picLocks noChangeAspect="1"/>
          </p:cNvPicPr>
          <p:nvPr/>
        </p:nvPicPr>
        <p:blipFill>
          <a:blip r:embed="rId4"/>
          <a:stretch>
            <a:fillRect/>
          </a:stretch>
        </p:blipFill>
        <p:spPr>
          <a:xfrm>
            <a:off x="621014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List rows, progress, text fields</a:t>
            </a:r>
            <a:endParaRPr lang="en-US" sz="1100" dirty="0"/>
          </a:p>
        </p:txBody>
      </p:sp>
      <p:pic>
        <p:nvPicPr>
          <p:cNvPr id="13" name="shot-5" descr="Android · Google Play · dark: Validation, allocation, callouts">    </p:cNvPr>
          <p:cNvPicPr>
            <a:picLocks noChangeAspect="1"/>
          </p:cNvPicPr>
          <p:nvPr/>
        </p:nvPicPr>
        <p:blipFill>
          <a:blip r:embed="rId5"/>
          <a:stretch>
            <a:fillRect/>
          </a:stretch>
        </p:blipFill>
        <p:spPr>
          <a:xfrm>
            <a:off x="8097317"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Validation, allocation, callouts</a:t>
            </a:r>
            <a:endParaRPr lang="en-US" sz="1100" dirty="0"/>
          </a:p>
        </p:txBody>
      </p:sp>
      <p:pic>
        <p:nvPicPr>
          <p:cNvPr id="15" name="shot-6" descr="Android · Google Play · dark: Choices, toggles, navigation, disclosures">    </p:cNvPr>
          <p:cNvPicPr>
            <a:picLocks noChangeAspect="1"/>
          </p:cNvPicPr>
          <p:nvPr/>
        </p:nvPicPr>
        <p:blipFill>
          <a:blip r:embed="rId6"/>
          <a:stretch>
            <a:fillRect/>
          </a:stretch>
        </p:blipFill>
        <p:spPr>
          <a:xfrm>
            <a:off x="9984486"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Choices, toggles,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ANDROID · GOOGLE PLAY · 200% TEXT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System font scale 2.0</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Shared Compose design module used by both store builds · Robolectric + Roborazzi · font scale 2.0</a:t>
            </a:r>
            <a:endParaRPr lang="en-US" sz="1000" dirty="0"/>
          </a:p>
        </p:txBody>
      </p:sp>
      <p:pic>
        <p:nvPicPr>
          <p:cNvPr id="5" name="shot-1" descr="Android · Google Play · 200% text: Header and colours">    </p:cNvPr>
          <p:cNvPicPr>
            <a:picLocks noChangeAspect="1"/>
          </p:cNvPicPr>
          <p:nvPr/>
        </p:nvPicPr>
        <p:blipFill>
          <a:blip r:embed="rId1"/>
          <a:stretch>
            <a:fillRect/>
          </a:stretch>
        </p:blipFill>
        <p:spPr>
          <a:xfrm>
            <a:off x="548640" y="1371600"/>
            <a:ext cx="1658569" cy="368541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Header and colours</a:t>
            </a:r>
            <a:endParaRPr lang="en-US" sz="1100" dirty="0"/>
          </a:p>
        </p:txBody>
      </p:sp>
      <p:pic>
        <p:nvPicPr>
          <p:cNvPr id="7" name="shot-2" descr="Android · Google Play · 200% text: Type scale and buttons">    </p:cNvPr>
          <p:cNvPicPr>
            <a:picLocks noChangeAspect="1"/>
          </p:cNvPicPr>
          <p:nvPr/>
        </p:nvPicPr>
        <p:blipFill>
          <a:blip r:embed="rId2"/>
          <a:stretch>
            <a:fillRect/>
          </a:stretch>
        </p:blipFill>
        <p:spPr>
          <a:xfrm>
            <a:off x="2435809" y="1371600"/>
            <a:ext cx="1658569" cy="368541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Type scale and buttons</a:t>
            </a:r>
            <a:endParaRPr lang="en-US" sz="1100" dirty="0"/>
          </a:p>
        </p:txBody>
      </p:sp>
      <p:pic>
        <p:nvPicPr>
          <p:cNvPr id="9" name="shot-3" descr="Android · Google Play · 200% text: Badges and amounts wrap">    </p:cNvPr>
          <p:cNvPicPr>
            <a:picLocks noChangeAspect="1"/>
          </p:cNvPicPr>
          <p:nvPr/>
        </p:nvPicPr>
        <p:blipFill>
          <a:blip r:embed="rId3"/>
          <a:stretch>
            <a:fillRect/>
          </a:stretch>
        </p:blipFill>
        <p:spPr>
          <a:xfrm>
            <a:off x="432297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Badges and amounts wrap</a:t>
            </a:r>
            <a:endParaRPr lang="en-US" sz="1100" dirty="0"/>
          </a:p>
        </p:txBody>
      </p:sp>
      <p:pic>
        <p:nvPicPr>
          <p:cNvPr id="11" name="shot-4" descr="Android · Google Play · 200% text: List rows and text fields">    </p:cNvPr>
          <p:cNvPicPr>
            <a:picLocks noChangeAspect="1"/>
          </p:cNvPicPr>
          <p:nvPr/>
        </p:nvPicPr>
        <p:blipFill>
          <a:blip r:embed="rId4"/>
          <a:stretch>
            <a:fillRect/>
          </a:stretch>
        </p:blipFill>
        <p:spPr>
          <a:xfrm>
            <a:off x="621014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List rows and text fields</a:t>
            </a:r>
            <a:endParaRPr lang="en-US" sz="1100" dirty="0"/>
          </a:p>
        </p:txBody>
      </p:sp>
      <p:pic>
        <p:nvPicPr>
          <p:cNvPr id="13" name="shot-5" descr="Android · Google Play · 200% text: Allocation and callouts">    </p:cNvPr>
          <p:cNvPicPr>
            <a:picLocks noChangeAspect="1"/>
          </p:cNvPicPr>
          <p:nvPr/>
        </p:nvPicPr>
        <p:blipFill>
          <a:blip r:embed="rId5"/>
          <a:stretch>
            <a:fillRect/>
          </a:stretch>
        </p:blipFill>
        <p:spPr>
          <a:xfrm>
            <a:off x="8097317"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Allocation and callouts</a:t>
            </a:r>
            <a:endParaRPr lang="en-US" sz="1100" dirty="0"/>
          </a:p>
        </p:txBody>
      </p:sp>
      <p:pic>
        <p:nvPicPr>
          <p:cNvPr id="15" name="shot-6" descr="Android · Google Play · 200% text: Choices and navigation">    </p:cNvPr>
          <p:cNvPicPr>
            <a:picLocks noChangeAspect="1"/>
          </p:cNvPicPr>
          <p:nvPr/>
        </p:nvPicPr>
        <p:blipFill>
          <a:blip r:embed="rId6"/>
          <a:stretch>
            <a:fillRect/>
          </a:stretch>
        </p:blipFill>
        <p:spPr>
          <a:xfrm>
            <a:off x="9984486"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Choices and navigation</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ANDROID · HUAWEI APPGALLERY · LIGHT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The Huawei build, all six screens</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Real MainActivity of the hms build · Robolectric 4.17 + Roborazzi 1.76.0 on GitHub Actions · 411 × 914 dp, xxhdpi</a:t>
            </a:r>
            <a:endParaRPr lang="en-US" sz="1000" dirty="0"/>
          </a:p>
        </p:txBody>
      </p:sp>
      <p:pic>
        <p:nvPicPr>
          <p:cNvPr id="5" name="shot-1" descr="Android · Huawei AppGallery · light: Header, store label, colour tokens">    </p:cNvPr>
          <p:cNvPicPr>
            <a:picLocks noChangeAspect="1"/>
          </p:cNvPicPr>
          <p:nvPr/>
        </p:nvPicPr>
        <p:blipFill>
          <a:blip r:embed="rId1"/>
          <a:stretch>
            <a:fillRect/>
          </a:stretch>
        </p:blipFill>
        <p:spPr>
          <a:xfrm>
            <a:off x="548640" y="1371600"/>
            <a:ext cx="1658569" cy="368541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Header, store label, colour tokens</a:t>
            </a:r>
            <a:endParaRPr lang="en-US" sz="1100" dirty="0"/>
          </a:p>
        </p:txBody>
      </p:sp>
      <p:pic>
        <p:nvPicPr>
          <p:cNvPr id="7" name="shot-2" descr="Android · Huawei AppGallery · light: Type scale and buttons">    </p:cNvPr>
          <p:cNvPicPr>
            <a:picLocks noChangeAspect="1"/>
          </p:cNvPicPr>
          <p:nvPr/>
        </p:nvPicPr>
        <p:blipFill>
          <a:blip r:embed="rId2"/>
          <a:stretch>
            <a:fillRect/>
          </a:stretch>
        </p:blipFill>
        <p:spPr>
          <a:xfrm>
            <a:off x="2435809" y="1371600"/>
            <a:ext cx="1658569" cy="368541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Type scale and buttons</a:t>
            </a:r>
            <a:endParaRPr lang="en-US" sz="1100" dirty="0"/>
          </a:p>
        </p:txBody>
      </p:sp>
      <p:pic>
        <p:nvPicPr>
          <p:cNvPr id="9" name="shot-3" descr="Android · Huawei AppGallery · light: Badges, amounts, check-in banner, Legacy Score">    </p:cNvPr>
          <p:cNvPicPr>
            <a:picLocks noChangeAspect="1"/>
          </p:cNvPicPr>
          <p:nvPr/>
        </p:nvPicPr>
        <p:blipFill>
          <a:blip r:embed="rId3"/>
          <a:stretch>
            <a:fillRect/>
          </a:stretch>
        </p:blipFill>
        <p:spPr>
          <a:xfrm>
            <a:off x="432297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Badges, amounts, check-in banner, Legacy Score</a:t>
            </a:r>
            <a:endParaRPr lang="en-US" sz="1100" dirty="0"/>
          </a:p>
        </p:txBody>
      </p:sp>
      <p:pic>
        <p:nvPicPr>
          <p:cNvPr id="11" name="shot-4" descr="Android · Huawei AppGallery · light: List rows, progress, text fields">    </p:cNvPr>
          <p:cNvPicPr>
            <a:picLocks noChangeAspect="1"/>
          </p:cNvPicPr>
          <p:nvPr/>
        </p:nvPicPr>
        <p:blipFill>
          <a:blip r:embed="rId4"/>
          <a:stretch>
            <a:fillRect/>
          </a:stretch>
        </p:blipFill>
        <p:spPr>
          <a:xfrm>
            <a:off x="621014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List rows, progress, text fields</a:t>
            </a:r>
            <a:endParaRPr lang="en-US" sz="1100" dirty="0"/>
          </a:p>
        </p:txBody>
      </p:sp>
      <p:pic>
        <p:nvPicPr>
          <p:cNvPr id="13" name="shot-5" descr="Android · Huawei AppGallery · light: Validation, allocation, callouts">    </p:cNvPr>
          <p:cNvPicPr>
            <a:picLocks noChangeAspect="1"/>
          </p:cNvPicPr>
          <p:nvPr/>
        </p:nvPicPr>
        <p:blipFill>
          <a:blip r:embed="rId5"/>
          <a:stretch>
            <a:fillRect/>
          </a:stretch>
        </p:blipFill>
        <p:spPr>
          <a:xfrm>
            <a:off x="8097317"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Validation, allocation, callouts</a:t>
            </a:r>
            <a:endParaRPr lang="en-US" sz="1100" dirty="0"/>
          </a:p>
        </p:txBody>
      </p:sp>
      <p:pic>
        <p:nvPicPr>
          <p:cNvPr id="15" name="shot-6" descr="Android · Huawei AppGallery · light: Choices, toggles, navigation, disclosures">    </p:cNvPr>
          <p:cNvPicPr>
            <a:picLocks noChangeAspect="1"/>
          </p:cNvPicPr>
          <p:nvPr/>
        </p:nvPicPr>
        <p:blipFill>
          <a:blip r:embed="rId6"/>
          <a:stretch>
            <a:fillRect/>
          </a:stretch>
        </p:blipFill>
        <p:spPr>
          <a:xfrm>
            <a:off x="9984486"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Choices, toggles,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D9B373"/>
                </a:solidFill>
              </a:rPr>
              <a:t>ANDROID · HUAWEI APPGALLERY · DARK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F6F3EC"/>
                </a:solidFill>
                <a:latin typeface="Arial" pitchFamily="34" charset="0"/>
                <a:ea typeface="Arial" pitchFamily="34" charset="-122"/>
                <a:cs typeface="Arial" pitchFamily="34" charset="-120"/>
              </a:rPr>
              <a:t>Same build with the phone in dark mode</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B7C9BE"/>
                </a:solidFill>
              </a:rPr>
              <a:t>Real MainActivity of the hms build · Robolectric 4.17 + Roborazzi 1.76.0 on GitHub Actions · 411 × 914 dp, xxhdpi · system night mode</a:t>
            </a:r>
            <a:endParaRPr lang="en-US" sz="1000" dirty="0"/>
          </a:p>
        </p:txBody>
      </p:sp>
      <p:pic>
        <p:nvPicPr>
          <p:cNvPr id="5" name="shot-1" descr="Android · Huawei AppGallery · dark: Header, store label, colour tokens">    </p:cNvPr>
          <p:cNvPicPr>
            <a:picLocks noChangeAspect="1"/>
          </p:cNvPicPr>
          <p:nvPr/>
        </p:nvPicPr>
        <p:blipFill>
          <a:blip r:embed="rId1"/>
          <a:stretch>
            <a:fillRect/>
          </a:stretch>
        </p:blipFill>
        <p:spPr>
          <a:xfrm>
            <a:off x="548640" y="1371600"/>
            <a:ext cx="1658569" cy="368541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Header, store label, colour tokens</a:t>
            </a:r>
            <a:endParaRPr lang="en-US" sz="1100" dirty="0"/>
          </a:p>
        </p:txBody>
      </p:sp>
      <p:pic>
        <p:nvPicPr>
          <p:cNvPr id="7" name="shot-2" descr="Android · Huawei AppGallery · dark: Type scale and buttons">    </p:cNvPr>
          <p:cNvPicPr>
            <a:picLocks noChangeAspect="1"/>
          </p:cNvPicPr>
          <p:nvPr/>
        </p:nvPicPr>
        <p:blipFill>
          <a:blip r:embed="rId2"/>
          <a:stretch>
            <a:fillRect/>
          </a:stretch>
        </p:blipFill>
        <p:spPr>
          <a:xfrm>
            <a:off x="2435809" y="1371600"/>
            <a:ext cx="1658569" cy="368541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Type scale and buttons</a:t>
            </a:r>
            <a:endParaRPr lang="en-US" sz="1100" dirty="0"/>
          </a:p>
        </p:txBody>
      </p:sp>
      <p:pic>
        <p:nvPicPr>
          <p:cNvPr id="9" name="shot-3" descr="Android · Huawei AppGallery · dark: Badges, amounts, check-in banner, Legacy Score">    </p:cNvPr>
          <p:cNvPicPr>
            <a:picLocks noChangeAspect="1"/>
          </p:cNvPicPr>
          <p:nvPr/>
        </p:nvPicPr>
        <p:blipFill>
          <a:blip r:embed="rId3"/>
          <a:stretch>
            <a:fillRect/>
          </a:stretch>
        </p:blipFill>
        <p:spPr>
          <a:xfrm>
            <a:off x="432297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Badges, amounts, check-in banner, Legacy Score</a:t>
            </a:r>
            <a:endParaRPr lang="en-US" sz="1100" dirty="0"/>
          </a:p>
        </p:txBody>
      </p:sp>
      <p:pic>
        <p:nvPicPr>
          <p:cNvPr id="11" name="shot-4" descr="Android · Huawei AppGallery · dark: List rows, progress, text fields">    </p:cNvPr>
          <p:cNvPicPr>
            <a:picLocks noChangeAspect="1"/>
          </p:cNvPicPr>
          <p:nvPr/>
        </p:nvPicPr>
        <p:blipFill>
          <a:blip r:embed="rId4"/>
          <a:stretch>
            <a:fillRect/>
          </a:stretch>
        </p:blipFill>
        <p:spPr>
          <a:xfrm>
            <a:off x="621014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List rows, progress, text fields</a:t>
            </a:r>
            <a:endParaRPr lang="en-US" sz="1100" dirty="0"/>
          </a:p>
        </p:txBody>
      </p:sp>
      <p:pic>
        <p:nvPicPr>
          <p:cNvPr id="13" name="shot-5" descr="Android · Huawei AppGallery · dark: Validation, allocation, callouts">    </p:cNvPr>
          <p:cNvPicPr>
            <a:picLocks noChangeAspect="1"/>
          </p:cNvPicPr>
          <p:nvPr/>
        </p:nvPicPr>
        <p:blipFill>
          <a:blip r:embed="rId5"/>
          <a:stretch>
            <a:fillRect/>
          </a:stretch>
        </p:blipFill>
        <p:spPr>
          <a:xfrm>
            <a:off x="8097317"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Validation, allocation, callouts</a:t>
            </a:r>
            <a:endParaRPr lang="en-US" sz="1100" dirty="0"/>
          </a:p>
        </p:txBody>
      </p:sp>
      <p:pic>
        <p:nvPicPr>
          <p:cNvPr id="15" name="shot-6" descr="Android · Huawei AppGallery · dark: Choices, toggles, navigation, disclosures">    </p:cNvPr>
          <p:cNvPicPr>
            <a:picLocks noChangeAspect="1"/>
          </p:cNvPicPr>
          <p:nvPr/>
        </p:nvPicPr>
        <p:blipFill>
          <a:blip r:embed="rId6"/>
          <a:stretch>
            <a:fillRect/>
          </a:stretch>
        </p:blipFill>
        <p:spPr>
          <a:xfrm>
            <a:off x="9984486"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148451"/>
            <a:ext cx="1658569" cy="457200"/>
          </a:xfrm>
          <a:prstGeom prst="rect">
            <a:avLst/>
          </a:prstGeom>
          <a:noFill/>
          <a:ln/>
        </p:spPr>
        <p:txBody>
          <a:bodyPr wrap="square" lIns="0" tIns="0" rIns="0" bIns="0" rtlCol="0" anchor="t"/>
          <a:lstStyle/>
          <a:p>
            <a:pPr indent="0" marL="0">
              <a:buNone/>
            </a:pPr>
            <a:r>
              <a:rPr lang="en-US" sz="1100" dirty="0">
                <a:solidFill>
                  <a:srgbClr val="B7C9BE"/>
                </a:solidFill>
              </a:rPr>
              <a:t>Choices, toggles, navigation, disclosures</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C9B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nchor="t"/>
          <a:lstStyle/>
          <a:p>
            <a:pPr algn="l" indent="0" marL="0">
              <a:buNone/>
            </a:pPr>
            <a:r>
              <a:rPr lang="en-US" sz="1200" b="1" spc="200" kern="0" dirty="0">
                <a:solidFill>
                  <a:srgbClr val="7A5A1E"/>
                </a:solidFill>
              </a:rPr>
              <a:t>ANDROID · HUAWEI APPGALLERY · 200% TEXT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000" b="1" dirty="0">
                <a:solidFill>
                  <a:srgbClr val="0B2E21"/>
                </a:solidFill>
                <a:latin typeface="Arial" pitchFamily="34" charset="0"/>
                <a:ea typeface="Arial" pitchFamily="34" charset="-122"/>
                <a:cs typeface="Arial" pitchFamily="34" charset="-120"/>
              </a:rPr>
              <a:t>System font scale 2.0</a:t>
            </a:r>
            <a:endParaRPr lang="en-US" sz="3000" dirty="0"/>
          </a:p>
        </p:txBody>
      </p:sp>
      <p:sp>
        <p:nvSpPr>
          <p:cNvPr id="4" name="Text 0"/>
          <p:cNvSpPr/>
          <p:nvPr>
            <p:ph idx="102" type="body" hasCustomPrompt="1"/>
          </p:nvPr>
        </p:nvSpPr>
        <p:spPr>
          <a:xfrm>
            <a:off x="548640" y="6400800"/>
            <a:ext cx="11094415" cy="274320"/>
          </a:xfrm>
          <a:prstGeom prst="rect">
            <a:avLst/>
          </a:prstGeom>
          <a:noFill/>
          <a:ln/>
        </p:spPr>
        <p:txBody>
          <a:bodyPr wrap="square" lIns="0" tIns="0" rIns="0" bIns="0" rtlCol="0" anchor="t"/>
          <a:lstStyle/>
          <a:p>
            <a:pPr algn="l" indent="0" marL="0">
              <a:buNone/>
            </a:pPr>
            <a:r>
              <a:rPr lang="en-US" sz="1000" dirty="0">
                <a:solidFill>
                  <a:srgbClr val="56625B"/>
                </a:solidFill>
              </a:rPr>
              <a:t>Shared Compose design module used by both store builds · same images as the Google Play section</a:t>
            </a:r>
            <a:endParaRPr lang="en-US" sz="1000" dirty="0"/>
          </a:p>
        </p:txBody>
      </p:sp>
      <p:pic>
        <p:nvPicPr>
          <p:cNvPr id="5" name="shot-1" descr="Android · Huawei AppGallery · 200% text: Header and colours">    </p:cNvPr>
          <p:cNvPicPr>
            <a:picLocks noChangeAspect="1"/>
          </p:cNvPicPr>
          <p:nvPr/>
        </p:nvPicPr>
        <p:blipFill>
          <a:blip r:embed="rId1"/>
          <a:stretch>
            <a:fillRect/>
          </a:stretch>
        </p:blipFill>
        <p:spPr>
          <a:xfrm>
            <a:off x="548640" y="1371600"/>
            <a:ext cx="1658569" cy="3685411"/>
          </a:xfrm>
          <a:prstGeom prst="rect">
            <a:avLst/>
          </a:prstGeom>
          <a:effectLst>
            <a:outerShdw sx="100000" sy="100000" kx="0" ky="0" algn="bl" rotWithShape="0" blurRad="101600" dist="38100" dir="5400000">
              <a:srgbClr val="000000">
                <a:alpha val="25000"/>
              </a:srgbClr>
            </a:outerShdw>
          </a:effectLst>
        </p:spPr>
      </p:pic>
      <p:sp>
        <p:nvSpPr>
          <p:cNvPr id="6" name="caption-1"/>
          <p:cNvSpPr txBox="1"/>
          <p:nvPr/>
        </p:nvSpPr>
        <p:spPr>
          <a:xfrm>
            <a:off x="548640"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Header and colours</a:t>
            </a:r>
            <a:endParaRPr lang="en-US" sz="1100" dirty="0"/>
          </a:p>
        </p:txBody>
      </p:sp>
      <p:pic>
        <p:nvPicPr>
          <p:cNvPr id="7" name="shot-2" descr="Android · Huawei AppGallery · 200% text: Type scale and buttons">    </p:cNvPr>
          <p:cNvPicPr>
            <a:picLocks noChangeAspect="1"/>
          </p:cNvPicPr>
          <p:nvPr/>
        </p:nvPicPr>
        <p:blipFill>
          <a:blip r:embed="rId2"/>
          <a:stretch>
            <a:fillRect/>
          </a:stretch>
        </p:blipFill>
        <p:spPr>
          <a:xfrm>
            <a:off x="2435809" y="1371600"/>
            <a:ext cx="1658569" cy="3685411"/>
          </a:xfrm>
          <a:prstGeom prst="rect">
            <a:avLst/>
          </a:prstGeom>
          <a:effectLst>
            <a:outerShdw sx="100000" sy="100000" kx="0" ky="0" algn="bl" rotWithShape="0" blurRad="101600" dist="38100" dir="5400000">
              <a:srgbClr val="000000">
                <a:alpha val="25000"/>
              </a:srgbClr>
            </a:outerShdw>
          </a:effectLst>
        </p:spPr>
      </p:pic>
      <p:sp>
        <p:nvSpPr>
          <p:cNvPr id="8" name="caption-2"/>
          <p:cNvSpPr txBox="1"/>
          <p:nvPr/>
        </p:nvSpPr>
        <p:spPr>
          <a:xfrm>
            <a:off x="2435809"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Type scale and buttons</a:t>
            </a:r>
            <a:endParaRPr lang="en-US" sz="1100" dirty="0"/>
          </a:p>
        </p:txBody>
      </p:sp>
      <p:pic>
        <p:nvPicPr>
          <p:cNvPr id="9" name="shot-3" descr="Android · Huawei AppGallery · 200% text: Badges and amounts wrap">    </p:cNvPr>
          <p:cNvPicPr>
            <a:picLocks noChangeAspect="1"/>
          </p:cNvPicPr>
          <p:nvPr/>
        </p:nvPicPr>
        <p:blipFill>
          <a:blip r:embed="rId3"/>
          <a:stretch>
            <a:fillRect/>
          </a:stretch>
        </p:blipFill>
        <p:spPr>
          <a:xfrm>
            <a:off x="432297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0" name="caption-3"/>
          <p:cNvSpPr txBox="1"/>
          <p:nvPr/>
        </p:nvSpPr>
        <p:spPr>
          <a:xfrm>
            <a:off x="432297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Badges and amounts wrap</a:t>
            </a:r>
            <a:endParaRPr lang="en-US" sz="1100" dirty="0"/>
          </a:p>
        </p:txBody>
      </p:sp>
      <p:pic>
        <p:nvPicPr>
          <p:cNvPr id="11" name="shot-4" descr="Android · Huawei AppGallery · 200% text: List rows and text fields">    </p:cNvPr>
          <p:cNvPicPr>
            <a:picLocks noChangeAspect="1"/>
          </p:cNvPicPr>
          <p:nvPr/>
        </p:nvPicPr>
        <p:blipFill>
          <a:blip r:embed="rId4"/>
          <a:stretch>
            <a:fillRect/>
          </a:stretch>
        </p:blipFill>
        <p:spPr>
          <a:xfrm>
            <a:off x="6210148"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2" name="caption-4"/>
          <p:cNvSpPr txBox="1"/>
          <p:nvPr/>
        </p:nvSpPr>
        <p:spPr>
          <a:xfrm>
            <a:off x="6210148"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List rows and text fields</a:t>
            </a:r>
            <a:endParaRPr lang="en-US" sz="1100" dirty="0"/>
          </a:p>
        </p:txBody>
      </p:sp>
      <p:pic>
        <p:nvPicPr>
          <p:cNvPr id="13" name="shot-5" descr="Android · Huawei AppGallery · 200% text: Allocation and callouts">    </p:cNvPr>
          <p:cNvPicPr>
            <a:picLocks noChangeAspect="1"/>
          </p:cNvPicPr>
          <p:nvPr/>
        </p:nvPicPr>
        <p:blipFill>
          <a:blip r:embed="rId5"/>
          <a:stretch>
            <a:fillRect/>
          </a:stretch>
        </p:blipFill>
        <p:spPr>
          <a:xfrm>
            <a:off x="8097317"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4" name="caption-5"/>
          <p:cNvSpPr txBox="1"/>
          <p:nvPr/>
        </p:nvSpPr>
        <p:spPr>
          <a:xfrm>
            <a:off x="8097317"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Allocation and callouts</a:t>
            </a:r>
            <a:endParaRPr lang="en-US" sz="1100" dirty="0"/>
          </a:p>
        </p:txBody>
      </p:sp>
      <p:pic>
        <p:nvPicPr>
          <p:cNvPr id="15" name="shot-6" descr="Android · Huawei AppGallery · 200% text: Choices and navigation">    </p:cNvPr>
          <p:cNvPicPr>
            <a:picLocks noChangeAspect="1"/>
          </p:cNvPicPr>
          <p:nvPr/>
        </p:nvPicPr>
        <p:blipFill>
          <a:blip r:embed="rId6"/>
          <a:stretch>
            <a:fillRect/>
          </a:stretch>
        </p:blipFill>
        <p:spPr>
          <a:xfrm>
            <a:off x="9984486" y="1371600"/>
            <a:ext cx="1658569" cy="3685411"/>
          </a:xfrm>
          <a:prstGeom prst="rect">
            <a:avLst/>
          </a:prstGeom>
          <a:effectLst>
            <a:outerShdw sx="100000" sy="100000" kx="0" ky="0" algn="bl" rotWithShape="0" blurRad="101600" dist="38100" dir="5400000">
              <a:srgbClr val="000000">
                <a:alpha val="25000"/>
              </a:srgbClr>
            </a:outerShdw>
          </a:effectLst>
        </p:spPr>
      </p:pic>
      <p:sp>
        <p:nvSpPr>
          <p:cNvPr id="16" name="caption-6"/>
          <p:cNvSpPr txBox="1"/>
          <p:nvPr/>
        </p:nvSpPr>
        <p:spPr>
          <a:xfrm>
            <a:off x="9984486" y="5148451"/>
            <a:ext cx="1658569" cy="457200"/>
          </a:xfrm>
          <a:prstGeom prst="rect">
            <a:avLst/>
          </a:prstGeom>
          <a:noFill/>
          <a:ln/>
        </p:spPr>
        <p:txBody>
          <a:bodyPr wrap="square" lIns="0" tIns="0" rIns="0" bIns="0" rtlCol="0" anchor="t"/>
          <a:lstStyle/>
          <a:p>
            <a:pPr indent="0" marL="0">
              <a:buNone/>
            </a:pPr>
            <a:r>
              <a:rPr lang="en-US" sz="1100" dirty="0">
                <a:solidFill>
                  <a:srgbClr val="56625B"/>
                </a:solidFill>
              </a:rPr>
              <a:t>Choices and navigation</a:t>
            </a:r>
            <a:endParaRPr lang="en-US" sz="11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rgbClr val="0B2E21"/>
                </a:solidFill>
                <a:latin typeface="Arial" pitchFamily="34" charset="0"/>
                <a:ea typeface="Arial" pitchFamily="34" charset="-122"/>
                <a:cs typeface="Arial" pitchFamily="34" charset="-120"/>
              </a:rPr>
              <a:t>HarmonyOS NEXT: no screenshots yet</a:t>
            </a:r>
            <a:endParaRPr lang="en-US" sz="3600" dirty="0"/>
          </a:p>
        </p:txBody>
      </p:sp>
      <p:sp>
        <p:nvSpPr>
          <p:cNvPr id="3" name="Text 0"/>
          <p:cNvSpPr/>
          <p:nvPr>
            <p:ph idx="101" type="body" hasCustomPrompt="1"/>
          </p:nvPr>
        </p:nvSpPr>
        <p:spPr>
          <a:xfrm>
            <a:off x="548640" y="6355080"/>
            <a:ext cx="10545775" cy="320040"/>
          </a:xfrm>
          <a:prstGeom prst="rect">
            <a:avLst/>
          </a:prstGeom>
          <a:noFill/>
          <a:ln/>
        </p:spPr>
        <p:txBody>
          <a:bodyPr wrap="square" lIns="0" tIns="0" rIns="0" bIns="0" rtlCol="0" anchor="t"/>
          <a:lstStyle/>
          <a:p>
            <a:pPr algn="l" indent="0" marL="0">
              <a:buNone/>
            </a:pPr>
            <a:r>
              <a:rPr lang="en-US" sz="1000" dirty="0">
                <a:solidFill>
                  <a:srgbClr val="56625B"/>
                </a:solidFill>
              </a:rPr>
              <a:t>Decision needed: set up a HarmonyOS build machine for CI, or capture screens by hand in a developer’s DevEco Studio</a:t>
            </a:r>
            <a:endParaRPr lang="en-US" sz="1000" dirty="0"/>
          </a:p>
        </p:txBody>
      </p:sp>
      <p:sp>
        <p:nvSpPr>
          <p:cNvPr id="4" name="Text 2"/>
          <p:cNvSpPr txBox="1"/>
          <p:nvPr/>
        </p:nvSpPr>
        <p:spPr>
          <a:xfrm>
            <a:off x="548640" y="1325880"/>
            <a:ext cx="10058400" cy="457200"/>
          </a:xfrm>
          <a:prstGeom prst="rect">
            <a:avLst/>
          </a:prstGeom>
          <a:noFill/>
          <a:ln/>
        </p:spPr>
        <p:txBody>
          <a:bodyPr wrap="square" lIns="0" tIns="0" rIns="0" bIns="0" rtlCol="0" anchor="t"/>
          <a:lstStyle/>
          <a:p>
            <a:pPr indent="0" marL="0">
              <a:buNone/>
            </a:pPr>
            <a:r>
              <a:rPr lang="en-US" sz="1800" dirty="0">
                <a:solidFill>
                  <a:srgbClr val="17231D"/>
                </a:solidFill>
              </a:rPr>
              <a:t>This build has not been compiled, so there is nothing real to show.</a:t>
            </a:r>
            <a:endParaRPr lang="en-US" sz="1800" dirty="0"/>
          </a:p>
        </p:txBody>
      </p:sp>
      <p:sp>
        <p:nvSpPr>
          <p:cNvPr id="5" name="card-1"/>
          <p:cNvSpPr/>
          <p:nvPr/>
        </p:nvSpPr>
        <p:spPr>
          <a:xfrm>
            <a:off x="548640" y="2103120"/>
            <a:ext cx="5440680" cy="2377440"/>
          </a:xfrm>
          <a:prstGeom prst="roundRect">
            <a:avLst>
              <a:gd name="adj" fmla="val 5769"/>
            </a:avLst>
          </a:prstGeom>
          <a:solidFill>
            <a:srgbClr val="FFFFFF"/>
          </a:solidFill>
          <a:ln w="12700">
            <a:solidFill>
              <a:srgbClr val="E4DED1"/>
            </a:solidFill>
            <a:prstDash val="solid"/>
          </a:ln>
        </p:spPr>
      </p:sp>
      <p:sp>
        <p:nvSpPr>
          <p:cNvPr id="6" name="Text 4"/>
          <p:cNvSpPr txBox="1"/>
          <p:nvPr/>
        </p:nvSpPr>
        <p:spPr>
          <a:xfrm>
            <a:off x="868680" y="2377440"/>
            <a:ext cx="4800600" cy="457200"/>
          </a:xfrm>
          <a:prstGeom prst="rect">
            <a:avLst/>
          </a:prstGeom>
          <a:noFill/>
          <a:ln/>
        </p:spPr>
        <p:txBody>
          <a:bodyPr wrap="square" lIns="0" tIns="0" rIns="0" bIns="0" rtlCol="0" anchor="t"/>
          <a:lstStyle/>
          <a:p>
            <a:pPr indent="0" marL="0">
              <a:buNone/>
            </a:pPr>
            <a:r>
              <a:rPr lang="en-US" sz="2200" b="1" dirty="0">
                <a:solidFill>
                  <a:srgbClr val="11402F"/>
                </a:solidFill>
                <a:latin typeface="Arial" pitchFamily="34" charset="0"/>
                <a:ea typeface="Arial" pitchFamily="34" charset="-122"/>
                <a:cs typeface="Arial" pitchFamily="34" charset="-120"/>
              </a:rPr>
              <a:t>What exists</a:t>
            </a:r>
            <a:endParaRPr lang="en-US" sz="2200" dirty="0"/>
          </a:p>
        </p:txBody>
      </p:sp>
      <p:sp>
        <p:nvSpPr>
          <p:cNvPr id="7" name="Text 5"/>
          <p:cNvSpPr txBox="1"/>
          <p:nvPr/>
        </p:nvSpPr>
        <p:spPr>
          <a:xfrm>
            <a:off x="868680" y="2971800"/>
            <a:ext cx="4800600" cy="1371600"/>
          </a:xfrm>
          <a:prstGeom prst="rect">
            <a:avLst/>
          </a:prstGeom>
          <a:noFill/>
          <a:ln/>
        </p:spPr>
        <p:txBody>
          <a:bodyPr wrap="square" lIns="0" tIns="0" rIns="0" bIns="0" rtlCol="0" anchor="t"/>
          <a:lstStyle/>
          <a:p>
            <a:pPr indent="0" marL="0">
              <a:buNone/>
            </a:pPr>
            <a:r>
              <a:rPr lang="en-US" sz="1600" dirty="0">
                <a:solidFill>
                  <a:srgbClr val="56625B"/>
                </a:solidFill>
              </a:rPr>
              <a:t>The ArkTS design package with all gallery components, themes generated from the same tokens, the entry app and its UI tests.</a:t>
            </a:r>
            <a:endParaRPr lang="en-US" sz="1600" dirty="0"/>
          </a:p>
        </p:txBody>
      </p:sp>
      <p:sp>
        <p:nvSpPr>
          <p:cNvPr id="8" name="card-2"/>
          <p:cNvSpPr/>
          <p:nvPr/>
        </p:nvSpPr>
        <p:spPr>
          <a:xfrm>
            <a:off x="6217920" y="2103120"/>
            <a:ext cx="5440680" cy="2377440"/>
          </a:xfrm>
          <a:prstGeom prst="roundRect">
            <a:avLst>
              <a:gd name="adj" fmla="val 5769"/>
            </a:avLst>
          </a:prstGeom>
          <a:solidFill>
            <a:srgbClr val="FBF0E0"/>
          </a:solidFill>
          <a:ln w="12700">
            <a:solidFill>
              <a:srgbClr val="E3C79A"/>
            </a:solidFill>
            <a:prstDash val="solid"/>
          </a:ln>
        </p:spPr>
      </p:sp>
      <p:sp>
        <p:nvSpPr>
          <p:cNvPr id="9" name="Text 7"/>
          <p:cNvSpPr txBox="1"/>
          <p:nvPr/>
        </p:nvSpPr>
        <p:spPr>
          <a:xfrm>
            <a:off x="6537960" y="2377440"/>
            <a:ext cx="4800600" cy="457200"/>
          </a:xfrm>
          <a:prstGeom prst="rect">
            <a:avLst/>
          </a:prstGeom>
          <a:noFill/>
          <a:ln/>
        </p:spPr>
        <p:txBody>
          <a:bodyPr wrap="square" lIns="0" tIns="0" rIns="0" bIns="0" rtlCol="0" anchor="t"/>
          <a:lstStyle/>
          <a:p>
            <a:pPr indent="0" marL="0">
              <a:buNone/>
            </a:pPr>
            <a:r>
              <a:rPr lang="en-US" sz="2200" b="1" dirty="0">
                <a:solidFill>
                  <a:srgbClr val="8A4F06"/>
                </a:solidFill>
                <a:latin typeface="Arial" pitchFamily="34" charset="0"/>
                <a:ea typeface="Arial" pitchFamily="34" charset="-122"/>
                <a:cs typeface="Arial" pitchFamily="34" charset="-120"/>
              </a:rPr>
              <a:t>What is missing</a:t>
            </a:r>
            <a:endParaRPr lang="en-US" sz="2200" dirty="0"/>
          </a:p>
        </p:txBody>
      </p:sp>
      <p:sp>
        <p:nvSpPr>
          <p:cNvPr id="10" name="Text 8"/>
          <p:cNvSpPr txBox="1"/>
          <p:nvPr/>
        </p:nvSpPr>
        <p:spPr>
          <a:xfrm>
            <a:off x="6537960" y="2971800"/>
            <a:ext cx="4800600" cy="1371600"/>
          </a:xfrm>
          <a:prstGeom prst="rect">
            <a:avLst/>
          </a:prstGeom>
          <a:noFill/>
          <a:ln/>
        </p:spPr>
        <p:txBody>
          <a:bodyPr wrap="square" lIns="0" tIns="0" rIns="0" bIns="0" rtlCol="0" anchor="t"/>
          <a:lstStyle/>
          <a:p>
            <a:pPr indent="0" marL="0">
              <a:buNone/>
            </a:pPr>
            <a:r>
              <a:rPr lang="en-US" sz="1600" dirty="0">
                <a:solidFill>
                  <a:srgbClr val="56625B"/>
                </a:solidFill>
              </a:rPr>
              <a:t>Huawei’s DevEco build tools and an emulator or device to render on. They are not on GitHub’s hosted runners and need a Huawei developer account to download.</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rgbClr val="0B2E21"/>
                </a:solidFill>
                <a:latin typeface="Arial" pitchFamily="34" charset="0"/>
                <a:ea typeface="Arial" pitchFamily="34" charset="-122"/>
                <a:cs typeface="Arial" pitchFamily="34" charset="-120"/>
              </a:rPr>
              <a:t>How it was checked</a:t>
            </a:r>
            <a:endParaRPr lang="en-US" sz="3600" dirty="0"/>
          </a:p>
        </p:txBody>
      </p:sp>
      <p:sp>
        <p:nvSpPr>
          <p:cNvPr id="3" name="Text 0"/>
          <p:cNvSpPr/>
          <p:nvPr>
            <p:ph idx="101" type="body" hasCustomPrompt="1"/>
          </p:nvPr>
        </p:nvSpPr>
        <p:spPr>
          <a:xfrm>
            <a:off x="548640" y="6355080"/>
            <a:ext cx="10545775" cy="320040"/>
          </a:xfrm>
          <a:prstGeom prst="rect">
            <a:avLst/>
          </a:prstGeom>
          <a:noFill/>
          <a:ln/>
        </p:spPr>
        <p:txBody>
          <a:bodyPr wrap="square" lIns="0" tIns="0" rIns="0" bIns="0" rtlCol="0" anchor="t"/>
          <a:lstStyle/>
          <a:p>
            <a:pPr algn="l" indent="0" marL="0">
              <a:buNone/>
            </a:pPr>
            <a:r>
              <a:rPr lang="en-US" sz="1000" dirty="0">
                <a:solidFill>
                  <a:srgbClr val="56625B"/>
                </a:solidFill>
              </a:rPr>
              <a:t>Known gap: Sora and DM Sans lack the Tshivenda letters ḓ ḽ ṅ ṋ ṱ, so those letters render in a fallback font</a:t>
            </a:r>
            <a:endParaRPr lang="en-US" sz="1000" dirty="0"/>
          </a:p>
        </p:txBody>
      </p:sp>
      <p:sp>
        <p:nvSpPr>
          <p:cNvPr id="4" name="check-1"/>
          <p:cNvSpPr/>
          <p:nvPr/>
        </p:nvSpPr>
        <p:spPr>
          <a:xfrm>
            <a:off x="548640" y="1463040"/>
            <a:ext cx="3515258" cy="2148840"/>
          </a:xfrm>
          <a:prstGeom prst="roundRect">
            <a:avLst>
              <a:gd name="adj" fmla="val 6383"/>
            </a:avLst>
          </a:prstGeom>
          <a:solidFill>
            <a:srgbClr val="FFFFFF"/>
          </a:solidFill>
          <a:ln w="12700">
            <a:solidFill>
              <a:srgbClr val="E4DED1"/>
            </a:solidFill>
            <a:prstDash val="solid"/>
          </a:ln>
        </p:spPr>
      </p:sp>
      <p:sp>
        <p:nvSpPr>
          <p:cNvPr id="5" name="Text 3"/>
          <p:cNvSpPr txBox="1"/>
          <p:nvPr/>
        </p:nvSpPr>
        <p:spPr>
          <a:xfrm>
            <a:off x="822960" y="1691640"/>
            <a:ext cx="2966618" cy="411480"/>
          </a:xfrm>
          <a:prstGeom prst="rect">
            <a:avLst/>
          </a:prstGeom>
          <a:noFill/>
          <a:ln/>
        </p:spPr>
        <p:txBody>
          <a:bodyPr wrap="square" lIns="0" tIns="0" rIns="0" bIns="0" rtlCol="0" anchor="t"/>
          <a:lstStyle/>
          <a:p>
            <a:pPr indent="0" marL="0">
              <a:buNone/>
            </a:pPr>
            <a:r>
              <a:rPr lang="en-US" sz="2000" b="1" dirty="0">
                <a:solidFill>
                  <a:srgbClr val="11402F"/>
                </a:solidFill>
                <a:latin typeface="Arial" pitchFamily="34" charset="0"/>
                <a:ea typeface="Arial" pitchFamily="34" charset="-122"/>
                <a:cs typeface="Arial" pitchFamily="34" charset="-120"/>
              </a:rPr>
              <a:t>Web</a:t>
            </a:r>
            <a:endParaRPr lang="en-US" sz="2000" dirty="0"/>
          </a:p>
        </p:txBody>
      </p:sp>
      <p:sp>
        <p:nvSpPr>
          <p:cNvPr id="6" name="Text 4"/>
          <p:cNvSpPr txBox="1"/>
          <p:nvPr/>
        </p:nvSpPr>
        <p:spPr>
          <a:xfrm>
            <a:off x="822960" y="2194560"/>
            <a:ext cx="2966618" cy="1234440"/>
          </a:xfrm>
          <a:prstGeom prst="rect">
            <a:avLst/>
          </a:prstGeom>
          <a:noFill/>
          <a:ln/>
        </p:spPr>
        <p:txBody>
          <a:bodyPr wrap="square" lIns="0" tIns="0" rIns="0" bIns="0" rtlCol="0" anchor="t"/>
          <a:lstStyle/>
          <a:p>
            <a:pPr indent="0" marL="0">
              <a:buNone/>
            </a:pPr>
            <a:r>
              <a:rPr lang="en-US" sz="1400" dirty="0">
                <a:solidFill>
                  <a:srgbClr val="56625B"/>
                </a:solidFill>
              </a:rPr>
              <a:t>Unit tests and Playwright with axe on every section, in light, dark and 200% text. Passing.</a:t>
            </a:r>
            <a:endParaRPr lang="en-US" sz="1400" dirty="0"/>
          </a:p>
        </p:txBody>
      </p:sp>
      <p:sp>
        <p:nvSpPr>
          <p:cNvPr id="7" name="check-2"/>
          <p:cNvSpPr/>
          <p:nvPr/>
        </p:nvSpPr>
        <p:spPr>
          <a:xfrm>
            <a:off x="4338218" y="1463040"/>
            <a:ext cx="3515258" cy="2148840"/>
          </a:xfrm>
          <a:prstGeom prst="roundRect">
            <a:avLst>
              <a:gd name="adj" fmla="val 6383"/>
            </a:avLst>
          </a:prstGeom>
          <a:solidFill>
            <a:srgbClr val="FFFFFF"/>
          </a:solidFill>
          <a:ln w="12700">
            <a:solidFill>
              <a:srgbClr val="E4DED1"/>
            </a:solidFill>
            <a:prstDash val="solid"/>
          </a:ln>
        </p:spPr>
      </p:sp>
      <p:sp>
        <p:nvSpPr>
          <p:cNvPr id="8" name="Text 6"/>
          <p:cNvSpPr txBox="1"/>
          <p:nvPr/>
        </p:nvSpPr>
        <p:spPr>
          <a:xfrm>
            <a:off x="4612538" y="1691640"/>
            <a:ext cx="2966618" cy="411480"/>
          </a:xfrm>
          <a:prstGeom prst="rect">
            <a:avLst/>
          </a:prstGeom>
          <a:noFill/>
          <a:ln/>
        </p:spPr>
        <p:txBody>
          <a:bodyPr wrap="square" lIns="0" tIns="0" rIns="0" bIns="0" rtlCol="0" anchor="t"/>
          <a:lstStyle/>
          <a:p>
            <a:pPr indent="0" marL="0">
              <a:buNone/>
            </a:pPr>
            <a:r>
              <a:rPr lang="en-US" sz="2000" b="1" dirty="0">
                <a:solidFill>
                  <a:srgbClr val="11402F"/>
                </a:solidFill>
                <a:latin typeface="Arial" pitchFamily="34" charset="0"/>
                <a:ea typeface="Arial" pitchFamily="34" charset="-122"/>
                <a:cs typeface="Arial" pitchFamily="34" charset="-120"/>
              </a:rPr>
              <a:t>Android</a:t>
            </a:r>
            <a:endParaRPr lang="en-US" sz="2000" dirty="0"/>
          </a:p>
        </p:txBody>
      </p:sp>
      <p:sp>
        <p:nvSpPr>
          <p:cNvPr id="9" name="Text 7"/>
          <p:cNvSpPr txBox="1"/>
          <p:nvPr/>
        </p:nvSpPr>
        <p:spPr>
          <a:xfrm>
            <a:off x="4612538" y="2194560"/>
            <a:ext cx="2966618" cy="1234440"/>
          </a:xfrm>
          <a:prstGeom prst="rect">
            <a:avLst/>
          </a:prstGeom>
          <a:noFill/>
          <a:ln/>
        </p:spPr>
        <p:txBody>
          <a:bodyPr wrap="square" lIns="0" tIns="0" rIns="0" bIns="0" rtlCol="0" anchor="t"/>
          <a:lstStyle/>
          <a:p>
            <a:pPr indent="0" marL="0">
              <a:buNone/>
            </a:pPr>
            <a:r>
              <a:rPr lang="en-US" sz="1400" dirty="0">
                <a:solidFill>
                  <a:srgbClr val="56625B"/>
                </a:solidFill>
              </a:rPr>
              <a:t>Compose UI tests pass, including 48 dp touch targets. Both store builds assemble; the Huawei build has no Google services. Passing.</a:t>
            </a:r>
            <a:endParaRPr lang="en-US" sz="1400" dirty="0"/>
          </a:p>
        </p:txBody>
      </p:sp>
      <p:sp>
        <p:nvSpPr>
          <p:cNvPr id="10" name="check-3"/>
          <p:cNvSpPr/>
          <p:nvPr/>
        </p:nvSpPr>
        <p:spPr>
          <a:xfrm>
            <a:off x="8127797" y="1463040"/>
            <a:ext cx="3515258" cy="2148840"/>
          </a:xfrm>
          <a:prstGeom prst="roundRect">
            <a:avLst>
              <a:gd name="adj" fmla="val 6383"/>
            </a:avLst>
          </a:prstGeom>
          <a:solidFill>
            <a:srgbClr val="FFFFFF"/>
          </a:solidFill>
          <a:ln w="12700">
            <a:solidFill>
              <a:srgbClr val="E4DED1"/>
            </a:solidFill>
            <a:prstDash val="solid"/>
          </a:ln>
        </p:spPr>
      </p:sp>
      <p:sp>
        <p:nvSpPr>
          <p:cNvPr id="11" name="Text 9"/>
          <p:cNvSpPr txBox="1"/>
          <p:nvPr/>
        </p:nvSpPr>
        <p:spPr>
          <a:xfrm>
            <a:off x="8402117" y="1691640"/>
            <a:ext cx="2966618" cy="411480"/>
          </a:xfrm>
          <a:prstGeom prst="rect">
            <a:avLst/>
          </a:prstGeom>
          <a:noFill/>
          <a:ln/>
        </p:spPr>
        <p:txBody>
          <a:bodyPr wrap="square" lIns="0" tIns="0" rIns="0" bIns="0" rtlCol="0" anchor="t"/>
          <a:lstStyle/>
          <a:p>
            <a:pPr indent="0" marL="0">
              <a:buNone/>
            </a:pPr>
            <a:r>
              <a:rPr lang="en-US" sz="2000" b="1" dirty="0">
                <a:solidFill>
                  <a:srgbClr val="11402F"/>
                </a:solidFill>
                <a:latin typeface="Arial" pitchFamily="34" charset="0"/>
                <a:ea typeface="Arial" pitchFamily="34" charset="-122"/>
                <a:cs typeface="Arial" pitchFamily="34" charset="-120"/>
              </a:rPr>
              <a:t>iOS</a:t>
            </a:r>
            <a:endParaRPr lang="en-US" sz="2000" dirty="0"/>
          </a:p>
        </p:txBody>
      </p:sp>
      <p:sp>
        <p:nvSpPr>
          <p:cNvPr id="12" name="Text 10"/>
          <p:cNvSpPr txBox="1"/>
          <p:nvPr/>
        </p:nvSpPr>
        <p:spPr>
          <a:xfrm>
            <a:off x="8402117" y="2194560"/>
            <a:ext cx="2966618" cy="1234440"/>
          </a:xfrm>
          <a:prstGeom prst="rect">
            <a:avLst/>
          </a:prstGeom>
          <a:noFill/>
          <a:ln/>
        </p:spPr>
        <p:txBody>
          <a:bodyPr wrap="square" lIns="0" tIns="0" rIns="0" bIns="0" rtlCol="0" anchor="t"/>
          <a:lstStyle/>
          <a:p>
            <a:pPr indent="0" marL="0">
              <a:buNone/>
            </a:pPr>
            <a:r>
              <a:rPr lang="en-US" sz="1400" dirty="0">
                <a:solidFill>
                  <a:srgbClr val="56625B"/>
                </a:solidFill>
              </a:rPr>
              <a:t>Package tests, UI tests and accessibility audits pass. Screenshots found real bugs (ignored system text size, words breaking at large sizes); all fixed.</a:t>
            </a:r>
            <a:endParaRPr lang="en-US" sz="1400" dirty="0"/>
          </a:p>
        </p:txBody>
      </p:sp>
      <p:sp>
        <p:nvSpPr>
          <p:cNvPr id="13" name="check-4"/>
          <p:cNvSpPr/>
          <p:nvPr/>
        </p:nvSpPr>
        <p:spPr>
          <a:xfrm>
            <a:off x="548640" y="3886200"/>
            <a:ext cx="3515258" cy="2148840"/>
          </a:xfrm>
          <a:prstGeom prst="roundRect">
            <a:avLst>
              <a:gd name="adj" fmla="val 6383"/>
            </a:avLst>
          </a:prstGeom>
          <a:solidFill>
            <a:srgbClr val="FFFFFF"/>
          </a:solidFill>
          <a:ln w="12700">
            <a:solidFill>
              <a:srgbClr val="E4DED1"/>
            </a:solidFill>
            <a:prstDash val="solid"/>
          </a:ln>
        </p:spPr>
      </p:sp>
      <p:sp>
        <p:nvSpPr>
          <p:cNvPr id="14" name="Text 12"/>
          <p:cNvSpPr txBox="1"/>
          <p:nvPr/>
        </p:nvSpPr>
        <p:spPr>
          <a:xfrm>
            <a:off x="822960" y="4114800"/>
            <a:ext cx="2966618" cy="411480"/>
          </a:xfrm>
          <a:prstGeom prst="rect">
            <a:avLst/>
          </a:prstGeom>
          <a:noFill/>
          <a:ln/>
        </p:spPr>
        <p:txBody>
          <a:bodyPr wrap="square" lIns="0" tIns="0" rIns="0" bIns="0" rtlCol="0" anchor="t"/>
          <a:lstStyle/>
          <a:p>
            <a:pPr indent="0" marL="0">
              <a:buNone/>
            </a:pPr>
            <a:r>
              <a:rPr lang="en-US" sz="2000" b="1" dirty="0">
                <a:solidFill>
                  <a:srgbClr val="11402F"/>
                </a:solidFill>
                <a:latin typeface="Arial" pitchFamily="34" charset="0"/>
                <a:ea typeface="Arial" pitchFamily="34" charset="-122"/>
                <a:cs typeface="Arial" pitchFamily="34" charset="-120"/>
              </a:rPr>
              <a:t>Tokens</a:t>
            </a:r>
            <a:endParaRPr lang="en-US" sz="2000" dirty="0"/>
          </a:p>
        </p:txBody>
      </p:sp>
      <p:sp>
        <p:nvSpPr>
          <p:cNvPr id="15" name="Text 13"/>
          <p:cNvSpPr txBox="1"/>
          <p:nvPr/>
        </p:nvSpPr>
        <p:spPr>
          <a:xfrm>
            <a:off x="822960" y="4617720"/>
            <a:ext cx="2966618" cy="1234440"/>
          </a:xfrm>
          <a:prstGeom prst="rect">
            <a:avLst/>
          </a:prstGeom>
          <a:noFill/>
          <a:ln/>
        </p:spPr>
        <p:txBody>
          <a:bodyPr wrap="square" lIns="0" tIns="0" rIns="0" bIns="0" rtlCol="0" anchor="t"/>
          <a:lstStyle/>
          <a:p>
            <a:pPr indent="0" marL="0">
              <a:buNone/>
            </a:pPr>
            <a:r>
              <a:rPr lang="en-US" sz="1400" dirty="0">
                <a:solidFill>
                  <a:srgbClr val="56625B"/>
                </a:solidFill>
              </a:rPr>
              <a:t>Contrast test 78/78, plus a drift check that fails CI if generated themes are out of date.</a:t>
            </a:r>
            <a:endParaRPr lang="en-US" sz="1400" dirty="0"/>
          </a:p>
        </p:txBody>
      </p:sp>
      <p:sp>
        <p:nvSpPr>
          <p:cNvPr id="16" name="check-5"/>
          <p:cNvSpPr/>
          <p:nvPr/>
        </p:nvSpPr>
        <p:spPr>
          <a:xfrm>
            <a:off x="4338218" y="3886200"/>
            <a:ext cx="3515258" cy="2148840"/>
          </a:xfrm>
          <a:prstGeom prst="roundRect">
            <a:avLst>
              <a:gd name="adj" fmla="val 6383"/>
            </a:avLst>
          </a:prstGeom>
          <a:solidFill>
            <a:srgbClr val="FFFFFF"/>
          </a:solidFill>
          <a:ln w="12700">
            <a:solidFill>
              <a:srgbClr val="E4DED1"/>
            </a:solidFill>
            <a:prstDash val="solid"/>
          </a:ln>
        </p:spPr>
      </p:sp>
      <p:sp>
        <p:nvSpPr>
          <p:cNvPr id="17" name="Text 15"/>
          <p:cNvSpPr txBox="1"/>
          <p:nvPr/>
        </p:nvSpPr>
        <p:spPr>
          <a:xfrm>
            <a:off x="4612538" y="4114800"/>
            <a:ext cx="2966618" cy="411480"/>
          </a:xfrm>
          <a:prstGeom prst="rect">
            <a:avLst/>
          </a:prstGeom>
          <a:noFill/>
          <a:ln/>
        </p:spPr>
        <p:txBody>
          <a:bodyPr wrap="square" lIns="0" tIns="0" rIns="0" bIns="0" rtlCol="0" anchor="t"/>
          <a:lstStyle/>
          <a:p>
            <a:pPr indent="0" marL="0">
              <a:buNone/>
            </a:pPr>
            <a:r>
              <a:rPr lang="en-US" sz="2000" b="1" dirty="0">
                <a:solidFill>
                  <a:srgbClr val="11402F"/>
                </a:solidFill>
                <a:latin typeface="Arial" pitchFamily="34" charset="0"/>
                <a:ea typeface="Arial" pitchFamily="34" charset="-122"/>
                <a:cs typeface="Arial" pitchFamily="34" charset="-120"/>
              </a:rPr>
              <a:t>Icons</a:t>
            </a:r>
            <a:endParaRPr lang="en-US" sz="2000" dirty="0"/>
          </a:p>
        </p:txBody>
      </p:sp>
      <p:sp>
        <p:nvSpPr>
          <p:cNvPr id="18" name="Text 16"/>
          <p:cNvSpPr txBox="1"/>
          <p:nvPr/>
        </p:nvSpPr>
        <p:spPr>
          <a:xfrm>
            <a:off x="4612538" y="4617720"/>
            <a:ext cx="2966618" cy="1234440"/>
          </a:xfrm>
          <a:prstGeom prst="rect">
            <a:avLst/>
          </a:prstGeom>
          <a:noFill/>
          <a:ln/>
        </p:spPr>
        <p:txBody>
          <a:bodyPr wrap="square" lIns="0" tIns="0" rIns="0" bIns="0" rtlCol="0" anchor="t"/>
          <a:lstStyle/>
          <a:p>
            <a:pPr indent="0" marL="0">
              <a:buNone/>
            </a:pPr>
            <a:r>
              <a:rPr lang="en-US" sz="1400" dirty="0">
                <a:solidFill>
                  <a:srgbClr val="56625B"/>
                </a:solidFill>
              </a:rPr>
              <a:t>24 Lucide icons generated per platform and checked pixel-identical against the source.</a:t>
            </a:r>
            <a:endParaRPr lang="en-US" sz="1400" dirty="0"/>
          </a:p>
        </p:txBody>
      </p:sp>
      <p:sp>
        <p:nvSpPr>
          <p:cNvPr id="19" name="check-6"/>
          <p:cNvSpPr/>
          <p:nvPr/>
        </p:nvSpPr>
        <p:spPr>
          <a:xfrm>
            <a:off x="8127797" y="3886200"/>
            <a:ext cx="3515258" cy="2148840"/>
          </a:xfrm>
          <a:prstGeom prst="roundRect">
            <a:avLst>
              <a:gd name="adj" fmla="val 6383"/>
            </a:avLst>
          </a:prstGeom>
          <a:solidFill>
            <a:srgbClr val="FBF0E0"/>
          </a:solidFill>
          <a:ln w="12700">
            <a:solidFill>
              <a:srgbClr val="E3C79A"/>
            </a:solidFill>
            <a:prstDash val="solid"/>
          </a:ln>
        </p:spPr>
      </p:sp>
      <p:sp>
        <p:nvSpPr>
          <p:cNvPr id="20" name="Text 18"/>
          <p:cNvSpPr txBox="1"/>
          <p:nvPr/>
        </p:nvSpPr>
        <p:spPr>
          <a:xfrm>
            <a:off x="8402117" y="4114800"/>
            <a:ext cx="2966618" cy="411480"/>
          </a:xfrm>
          <a:prstGeom prst="rect">
            <a:avLst/>
          </a:prstGeom>
          <a:noFill/>
          <a:ln/>
        </p:spPr>
        <p:txBody>
          <a:bodyPr wrap="square" lIns="0" tIns="0" rIns="0" bIns="0" rtlCol="0" anchor="t"/>
          <a:lstStyle/>
          <a:p>
            <a:pPr indent="0" marL="0">
              <a:buNone/>
            </a:pPr>
            <a:r>
              <a:rPr lang="en-US" sz="2000" b="1" dirty="0">
                <a:solidFill>
                  <a:srgbClr val="8A4F06"/>
                </a:solidFill>
                <a:latin typeface="Arial" pitchFamily="34" charset="0"/>
                <a:ea typeface="Arial" pitchFamily="34" charset="-122"/>
                <a:cs typeface="Arial" pitchFamily="34" charset="-120"/>
              </a:rPr>
              <a:t>HarmonyOS</a:t>
            </a:r>
            <a:endParaRPr lang="en-US" sz="2000" dirty="0"/>
          </a:p>
        </p:txBody>
      </p:sp>
      <p:sp>
        <p:nvSpPr>
          <p:cNvPr id="21" name="Text 19"/>
          <p:cNvSpPr txBox="1"/>
          <p:nvPr/>
        </p:nvSpPr>
        <p:spPr>
          <a:xfrm>
            <a:off x="8402117" y="4617720"/>
            <a:ext cx="2966618" cy="1234440"/>
          </a:xfrm>
          <a:prstGeom prst="rect">
            <a:avLst/>
          </a:prstGeom>
          <a:noFill/>
          <a:ln/>
        </p:spPr>
        <p:txBody>
          <a:bodyPr wrap="square" lIns="0" tIns="0" rIns="0" bIns="0" rtlCol="0" anchor="t"/>
          <a:lstStyle/>
          <a:p>
            <a:pPr indent="0" marL="0">
              <a:buNone/>
            </a:pPr>
            <a:r>
              <a:rPr lang="en-US" sz="1400" dirty="0">
                <a:solidFill>
                  <a:srgbClr val="56625B"/>
                </a:solidFill>
              </a:rPr>
              <a:t>Built from the same tokens, but not compiled yet: DevEco tooling is not available in CI.</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5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914400"/>
            <a:ext cx="5486400" cy="320040"/>
          </a:xfrm>
          <a:prstGeom prst="rect">
            <a:avLst/>
          </a:prstGeom>
          <a:noFill/>
          <a:ln/>
        </p:spPr>
        <p:txBody>
          <a:bodyPr wrap="square" lIns="0" tIns="0" rIns="0" bIns="0" rtlCol="0" anchor="t"/>
          <a:lstStyle/>
          <a:p>
            <a:pPr indent="0" marL="0">
              <a:buNone/>
            </a:pPr>
            <a:r>
              <a:rPr lang="en-US" sz="1400" b="1" spc="300" kern="0" dirty="0">
                <a:solidFill>
                  <a:srgbClr val="D9B373"/>
                </a:solidFill>
              </a:rPr>
              <a:t>YOUR REVIEW</a:t>
            </a:r>
            <a:endParaRPr lang="en-US" sz="1400" dirty="0"/>
          </a:p>
        </p:txBody>
      </p:sp>
      <p:sp>
        <p:nvSpPr>
          <p:cNvPr id="3" name="Text 1"/>
          <p:cNvSpPr txBox="1"/>
          <p:nvPr/>
        </p:nvSpPr>
        <p:spPr>
          <a:xfrm>
            <a:off x="640080" y="1325880"/>
            <a:ext cx="10515600" cy="914400"/>
          </a:xfrm>
          <a:prstGeom prst="rect">
            <a:avLst/>
          </a:prstGeom>
          <a:noFill/>
          <a:ln/>
        </p:spPr>
        <p:txBody>
          <a:bodyPr wrap="square" lIns="0" tIns="0" rIns="0" bIns="0" rtlCol="0" anchor="t"/>
          <a:lstStyle/>
          <a:p>
            <a:pPr indent="0" marL="0">
              <a:buNone/>
            </a:pPr>
            <a:r>
              <a:rPr lang="en-US" sz="4000" b="1" dirty="0">
                <a:solidFill>
                  <a:srgbClr val="F6F3EC"/>
                </a:solidFill>
                <a:latin typeface="Arial" pitchFamily="34" charset="0"/>
                <a:ea typeface="Arial" pitchFamily="34" charset="-122"/>
                <a:cs typeface="Arial" pitchFamily="34" charset="-120"/>
              </a:rPr>
              <a:t>Approve step 2, then on to the backend</a:t>
            </a:r>
            <a:endParaRPr lang="en-US" sz="4000" dirty="0"/>
          </a:p>
        </p:txBody>
      </p:sp>
      <p:sp>
        <p:nvSpPr>
          <p:cNvPr id="4" name="Text 2"/>
          <p:cNvSpPr txBox="1"/>
          <p:nvPr/>
        </p:nvSpPr>
        <p:spPr>
          <a:xfrm>
            <a:off x="640080" y="2651760"/>
            <a:ext cx="10058400" cy="27432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F6F3EC"/>
                </a:solidFill>
              </a:rPr>
              <a:t>Look and feel: colours, type and components on each platform</a:t>
            </a:r>
            <a:endParaRPr lang="en-US" sz="2000" dirty="0"/>
          </a:p>
          <a:p>
            <a:pPr marL="342900" indent="-342900">
              <a:spcAft>
                <a:spcPts val="1200"/>
              </a:spcAft>
              <a:buSzPct val="100000"/>
              <a:buFont typeface="+mj-lt"/>
              <a:buAutoNum type="arabicPeriod" startAt="1"/>
            </a:pPr>
            <a:r>
              <a:rPr lang="en-US" sz="2000" dirty="0">
                <a:solidFill>
                  <a:srgbClr val="F6F3EC"/>
                </a:solidFill>
              </a:rPr>
              <a:t>A font choice for Tshivenda names, or accept the fallback</a:t>
            </a:r>
            <a:endParaRPr lang="en-US" sz="2000" dirty="0"/>
          </a:p>
          <a:p>
            <a:pPr marL="342900" indent="-342900">
              <a:spcAft>
                <a:spcPts val="1200"/>
              </a:spcAft>
              <a:buSzPct val="100000"/>
              <a:buFont typeface="+mj-lt"/>
              <a:buAutoNum type="arabicPeriod" startAt="1"/>
            </a:pPr>
            <a:r>
              <a:rPr lang="en-US" sz="2000" dirty="0">
                <a:solidFill>
                  <a:srgbClr val="F6F3EC"/>
                </a:solidFill>
              </a:rPr>
              <a:t>HarmonyOS: a CI build machine, or hand-captured screens</a:t>
            </a:r>
            <a:endParaRPr lang="en-US" sz="2000" dirty="0"/>
          </a:p>
          <a:p>
            <a:pPr marL="342900" indent="-342900">
              <a:spcAft>
                <a:spcPts val="1200"/>
              </a:spcAft>
              <a:buSzPct val="100000"/>
              <a:buFont typeface="+mj-lt"/>
              <a:buAutoNum type="arabicPeriod" startAt="1"/>
            </a:pPr>
            <a:r>
              <a:rPr lang="en-US" sz="2000" dirty="0">
                <a:solidFill>
                  <a:srgbClr val="F6F3EC"/>
                </a:solidFill>
              </a:rPr>
              <a:t>Step 3: Spring Boot services, Terraform for Azure South Africa, CI/CD and seed data</a:t>
            </a:r>
            <a:endParaRPr lang="en-US" sz="2000" dirty="0"/>
          </a:p>
        </p:txBody>
      </p:sp>
      <p:sp>
        <p:nvSpPr>
          <p:cNvPr id="5" name="Text 3"/>
          <p:cNvSpPr txBox="1"/>
          <p:nvPr/>
        </p:nvSpPr>
        <p:spPr>
          <a:xfrm>
            <a:off x="640080" y="6263640"/>
            <a:ext cx="7315200" cy="274320"/>
          </a:xfrm>
          <a:prstGeom prst="rect">
            <a:avLst/>
          </a:prstGeom>
          <a:noFill/>
          <a:ln/>
        </p:spPr>
        <p:txBody>
          <a:bodyPr wrap="square" lIns="0" tIns="0" rIns="0" bIns="0" rtlCol="0" anchor="t"/>
          <a:lstStyle/>
          <a:p>
            <a:pPr indent="0" marL="0">
              <a:buNone/>
            </a:pPr>
            <a:r>
              <a:rPr lang="en-US" sz="1100" dirty="0">
                <a:solidFill>
                  <a:srgbClr val="B7C9BE"/>
                </a:solidFill>
              </a:rPr>
              <a:t>Nothing in step 3 starts until step 2 is approved</a:t>
            </a:r>
            <a:endParaRPr lang="en-US" sz="1100" dirty="0"/>
          </a:p>
        </p:txBody>
      </p:sp>
    </p:spTree>
  </p:cSld>
  <p:clrMapOvr>
    <a:masterClrMapping/>
  </p:clrMapOvr>
</p:sld>
</file>

<file path=ppt/theme/theme1.xml><?xml version="1.0" encoding="utf-8"?>
<a:theme xmlns:a="http://schemas.openxmlformats.org/drawingml/2006/main" name="Lifa">
  <a:themeElements>
    <a:clrScheme name="Lifa">
      <a:dk1>
        <a:srgbClr val="17231D"/>
      </a:dk1>
      <a:lt1>
        <a:srgbClr val="FFFFFF"/>
      </a:lt1>
      <a:dk2>
        <a:srgbClr val="0B2E21"/>
      </a:dk2>
      <a:lt2>
        <a:srgbClr val="F6F3EC"/>
      </a:lt2>
      <a:accent1>
        <a:srgbClr val="11402F"/>
      </a:accent1>
      <a:accent2>
        <a:srgbClr val="D9B373"/>
      </a:accent2>
      <a:accent3>
        <a:srgbClr val="2E6B45"/>
      </a:accent3>
      <a:accent4>
        <a:srgbClr val="8A4F06"/>
      </a:accent4>
      <a:accent5>
        <a:srgbClr val="A23B2A"/>
      </a:accent5>
      <a:accent6>
        <a:srgbClr val="56625B"/>
      </a:accent6>
      <a:hlink>
        <a:srgbClr val="11402F"/>
      </a:hlink>
      <a:folHlink>
        <a:srgbClr val="56625B"/>
      </a:folHlink>
    </a:clrScheme>
    <a:fontScheme name="Lif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WZDRY (Pty)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Lifa design system demo</dc:title>
  <dc:subject>PptxGenJS Presentation</dc:subject>
  <dc:creator>Lifa build team</dc:creator>
  <cp:lastModifiedBy>Lifa build team</cp:lastModifiedBy>
  <cp:revision>1</cp:revision>
  <dcterms:created xsi:type="dcterms:W3CDTF">2026-10-08T04:58:11Z</dcterms:created>
  <dcterms:modified xsi:type="dcterms:W3CDTF">2026-10-08T04:58:11Z</dcterms:modified>
</cp:coreProperties>
</file>